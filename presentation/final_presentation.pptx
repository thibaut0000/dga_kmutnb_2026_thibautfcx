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0891B2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10029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FE3FF"/>
                </a:solidFill>
                <a:latin typeface="Segoe UI"/>
              </a:rPr>
              <a:t>RESEARCH INITIATION PROJECT —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Finding Failing Transformers Without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 i="0">
                <a:solidFill>
                  <a:srgbClr val="DFE3FF"/>
                </a:solidFill>
                <a:latin typeface="Segoe UI"/>
              </a:rPr>
              <a:t>Label-free health monitoring from dissolved-gas analysis — and a hidden trap in how such models are validated.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4805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Thibaut Faucheux</a:t>
            </a:r>
            <a:r>
              <a:rPr sz="1500" b="0" i="0">
                <a:solidFill>
                  <a:srgbClr val="DFE3FF"/>
                </a:solidFill>
                <a:latin typeface="Segoe UI"/>
              </a:rPr>
              <a:t> — CESI Engineering School, France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Supervised by Dr. Rattanakorn Phadungthin</a:t>
            </a:r>
            <a:r>
              <a:rPr sz="1500" b="0" i="0">
                <a:solidFill>
                  <a:srgbClr val="DFE3FF"/>
                </a:solidFill>
                <a:latin typeface="Segoe UI"/>
              </a:rPr>
              <a:t> — KMUTNB, Bangkok, Thailand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 i="0">
                <a:solidFill>
                  <a:srgbClr val="DFE3FF"/>
                </a:solidFill>
                <a:latin typeface="Segoe UI"/>
              </a:rPr>
              <a:t>July 2026 · 5-week research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What the next 20 minutes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C2128"/>
                </a:solidFill>
                <a:latin typeface="Segoe UI"/>
              </a:rPr>
              <a:t>Context — transformers, gas analysis, and a fleet with no labels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258568"/>
            <a:ext cx="11002975" cy="0"/>
          </a:xfrm>
          <a:prstGeom prst="line">
            <a:avLst/>
          </a:prstGeom>
          <a:ln w="9525">
            <a:solidFill>
              <a:srgbClr val="E7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53288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3288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C2128"/>
                </a:solidFill>
                <a:latin typeface="Segoe UI"/>
              </a:rPr>
              <a:t>Contribution 1 — a fault-type map learned without labels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099816"/>
            <a:ext cx="11002975" cy="0"/>
          </a:xfrm>
          <a:prstGeom prst="line">
            <a:avLst/>
          </a:prstGeom>
          <a:ln w="9525">
            <a:solidFill>
              <a:srgbClr val="E7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374136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74136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C2128"/>
                </a:solidFill>
                <a:latin typeface="Segoe UI"/>
              </a:rPr>
              <a:t>Contribution 2 — the validation trap: surveillance bias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941064"/>
            <a:ext cx="11002975" cy="0"/>
          </a:xfrm>
          <a:prstGeom prst="line">
            <a:avLst/>
          </a:prstGeom>
          <a:ln w="9525">
            <a:solidFill>
              <a:srgbClr val="E7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215384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Segoe U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15384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C2128"/>
                </a:solidFill>
                <a:latin typeface="Segoe UI"/>
              </a:rPr>
              <a:t>Contribution 3 — a fleet risk index + live dashboard demo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782312"/>
            <a:ext cx="11002975" cy="0"/>
          </a:xfrm>
          <a:prstGeom prst="line">
            <a:avLst/>
          </a:prstGeom>
          <a:ln w="9525">
            <a:solidFill>
              <a:srgbClr val="E7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5056632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4F46E5"/>
                </a:solidFill>
                <a:latin typeface="Segoe U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5663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 i="0">
                <a:solidFill>
                  <a:srgbClr val="1C2128"/>
                </a:solidFill>
                <a:latin typeface="Segoe UI"/>
              </a:rPr>
              <a:t>Take-aways — for the field, and for 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623560"/>
            <a:ext cx="11002975" cy="0"/>
          </a:xfrm>
          <a:prstGeom prst="line">
            <a:avLst/>
          </a:prstGeom>
          <a:ln w="9525">
            <a:solidFill>
              <a:srgbClr val="E7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A blood test for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100297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50" b="0" i="0">
                <a:solidFill>
                  <a:srgbClr val="5B6470"/>
                </a:solidFill>
                <a:latin typeface="Segoe UI"/>
              </a:rPr>
              <a:t>Power transformers are critical, million-euro assets. When something goes wrong inside — overheating, sparking, arcing — the insulating oil breaks down and releases dissolved gases. Measuring them is called DGA: Dissolved Gas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377440" cy="182880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Transformer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fault heats the oil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3383280.0"/>
            <a:ext cx="594360" cy="0.0"/>
          </a:xfrm>
          <a:prstGeom prst="line">
            <a:avLst/>
          </a:prstGeom>
          <a:ln w="25400">
            <a:solidFill>
              <a:srgbClr val="8A93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77639" y="2468880"/>
            <a:ext cx="23774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3794760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3429000"/>
            <a:ext cx="128016" cy="12801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40" y="3063240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37760" y="2880360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2697480"/>
            <a:ext cx="128016" cy="12801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3840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C2128"/>
                </a:solidFill>
                <a:latin typeface="Segoe UI"/>
              </a:rPr>
              <a:t>Gases dissolve in oil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46520" y="3383280.0"/>
            <a:ext cx="594360" cy="0.0"/>
          </a:xfrm>
          <a:prstGeom prst="line">
            <a:avLst/>
          </a:prstGeom>
          <a:ln w="25400">
            <a:solidFill>
              <a:srgbClr val="8A93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246888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291840"/>
            <a:ext cx="27432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926080"/>
            <a:ext cx="274320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3474720"/>
            <a:ext cx="274320" cy="320040"/>
          </a:xfrm>
          <a:prstGeom prst="rect">
            <a:avLst/>
          </a:prstGeom>
          <a:solidFill>
            <a:srgbClr val="8A9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8404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C2128"/>
                </a:solidFill>
                <a:latin typeface="Segoe UI"/>
              </a:rPr>
              <a:t>Lab: 7 gases (ppm)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2286000"/>
            <a:ext cx="22860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39572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C2128"/>
                </a:solidFill>
                <a:latin typeface="Segoe UI"/>
              </a:rPr>
              <a:t>Each gas is a clue: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743200"/>
            <a:ext cx="1965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 i="0">
                <a:solidFill>
                  <a:srgbClr val="1C2128"/>
                </a:solidFill>
                <a:latin typeface="Segoe UI"/>
              </a:rPr>
              <a:t>H2</a:t>
            </a:r>
            <a:r>
              <a:rPr sz="1200" b="0" i="0">
                <a:solidFill>
                  <a:srgbClr val="1C2128"/>
                </a:solidFill>
                <a:latin typeface="Segoe UI"/>
              </a:rPr>
              <a:t> — sparking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 i="0">
                <a:solidFill>
                  <a:srgbClr val="1C2128"/>
                </a:solidFill>
                <a:latin typeface="Segoe UI"/>
              </a:rPr>
              <a:t>C2H2</a:t>
            </a:r>
            <a:r>
              <a:rPr sz="1200" b="0" i="0">
                <a:solidFill>
                  <a:srgbClr val="1C2128"/>
                </a:solidFill>
                <a:latin typeface="Segoe UI"/>
              </a:rPr>
              <a:t> — arcing (worst)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 i="0">
                <a:solidFill>
                  <a:srgbClr val="1C2128"/>
                </a:solidFill>
                <a:latin typeface="Segoe UI"/>
              </a:rPr>
              <a:t>C2H4/CH4</a:t>
            </a:r>
            <a:r>
              <a:rPr sz="1200" b="0" i="0">
                <a:solidFill>
                  <a:srgbClr val="1C2128"/>
                </a:solidFill>
                <a:latin typeface="Segoe UI"/>
              </a:rPr>
              <a:t> — overheating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 i="0">
                <a:solidFill>
                  <a:srgbClr val="1C2128"/>
                </a:solidFill>
                <a:latin typeface="Segoe UI"/>
              </a:rPr>
              <a:t>CO/CO2</a:t>
            </a:r>
            <a:r>
              <a:rPr sz="1200" b="0" i="0">
                <a:solidFill>
                  <a:srgbClr val="1C2128"/>
                </a:solidFill>
                <a:latin typeface="Segoe UI"/>
              </a:rPr>
              <a:t> — paper ageing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The problem: experts are scarce, labels don't exist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uval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92" y="1463040"/>
            <a:ext cx="466349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7607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8A93A2"/>
                </a:solidFill>
                <a:latin typeface="Segoe UI"/>
              </a:rPr>
              <a:t>The Duval Triangle — an expert rule from the 1970s, still the industry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6022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664208"/>
            <a:ext cx="532455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Expert rules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 (Duval, IEC ratios) work — but need an expert, and often answer “undetermined”.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67462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578608"/>
            <a:ext cx="532455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Machine learning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 reaches 99% accuracy in papers — but needs labelled faults, which utilities almost never have.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58902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3493008"/>
            <a:ext cx="532455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Our fleet: zero confirmed fault labels.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 Just gas numbers and messy operator notes.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709160"/>
            <a:ext cx="5562295" cy="123444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919472"/>
            <a:ext cx="510509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1C2128"/>
                </a:solidFill>
                <a:latin typeface="Segoe UI"/>
              </a:rPr>
              <a:t>Goal: </a:t>
            </a:r>
            <a:r>
              <a:rPr sz="1600" b="0" i="0">
                <a:solidFill>
                  <a:srgbClr val="1C2128"/>
                </a:solidFill>
                <a:latin typeface="Segoe UI"/>
              </a:rPr>
              <a:t>rank 628 transformers by risk and read fault types — </a:t>
            </a:r>
            <a:r>
              <a:rPr sz="1600" b="1" i="0">
                <a:solidFill>
                  <a:srgbClr val="1C2128"/>
                </a:solidFill>
                <a:latin typeface="Segoe UI"/>
              </a:rPr>
              <a:t>using no labels at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Real fleet data — not a curated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57929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22501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628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30552"/>
            <a:ext cx="2250109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transformers in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2253" y="1508760"/>
            <a:ext cx="257929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845" y="1600200"/>
            <a:ext cx="22501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4,563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845" y="2130552"/>
            <a:ext cx="2250109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oil samples analysed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508760"/>
            <a:ext cx="257929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4739" y="1600200"/>
            <a:ext cx="22501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5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4739" y="2130552"/>
            <a:ext cx="2250109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of history (2019–2024)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8041" y="1508760"/>
            <a:ext cx="2579293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2633" y="1600200"/>
            <a:ext cx="225010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2633" y="2130552"/>
            <a:ext cx="2250109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manufacturers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71800"/>
            <a:ext cx="5364327" cy="301752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49071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C2128"/>
                </a:solidFill>
                <a:latin typeface="Segoe UI"/>
              </a:rPr>
              <a:t>What “real” means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8046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584448"/>
            <a:ext cx="466938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Gas values stored as text, with dashes for missing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247388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4151376"/>
            <a:ext cx="466938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Operator notes mix English and Thai — 69% contain Thai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814316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718304"/>
            <a:ext cx="466938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Notes log everything: faults, but mostly maintenance and admin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381244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285232"/>
            <a:ext cx="466938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No ground truth; assembled from multiple sources, anonymised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007" y="2971800"/>
            <a:ext cx="5364327" cy="301752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607" y="3154680"/>
            <a:ext cx="48156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C2128"/>
                </a:solidFill>
                <a:latin typeface="Segoe UI"/>
              </a:rPr>
              <a:t>Why that is interesting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3611880"/>
            <a:ext cx="481568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 i="0">
                <a:solidFill>
                  <a:srgbClr val="5B6470"/>
                </a:solidFill>
                <a:latin typeface="Segoe UI"/>
              </a:rPr>
              <a:t>Most published methods are tested on small, clean, balanced datasets (often under 200 samples). Whether they survive contact with a real fleet is exactly the open question — and the messiness itself hides a scientific finding.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Five weeks that did not go as planned — on purpose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377440"/>
            <a:ext cx="10362895" cy="0"/>
          </a:xfrm>
          <a:prstGeom prst="line">
            <a:avLst/>
          </a:prstGeom>
          <a:ln w="38100">
            <a:solidFill>
              <a:srgbClr val="E7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97864" y="2249424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79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C2128"/>
                </a:solidFill>
                <a:latin typeface="Segoe UI"/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59" y="2651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Clean the data,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59" y="28986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rebuild expert rules</a:t>
            </a:r>
          </a:p>
        </p:txBody>
      </p:sp>
      <p:sp>
        <p:nvSpPr>
          <p:cNvPr id="9" name="Oval 8"/>
          <p:cNvSpPr/>
          <p:nvPr/>
        </p:nvSpPr>
        <p:spPr>
          <a:xfrm>
            <a:off x="3575303" y="2249424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C2128"/>
                </a:solidFill>
                <a:latin typeface="Segoe UI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51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First models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8986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a fleet risk index</a:t>
            </a:r>
          </a:p>
        </p:txBody>
      </p:sp>
      <p:sp>
        <p:nvSpPr>
          <p:cNvPr id="13" name="Oval 12"/>
          <p:cNvSpPr/>
          <p:nvPr/>
        </p:nvSpPr>
        <p:spPr>
          <a:xfrm>
            <a:off x="5916168" y="2212848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DC2626"/>
                </a:solidFill>
                <a:latin typeface="Segoe UI"/>
              </a:rPr>
              <a:t>Week 3 —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51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Our validation label is biased.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8986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Everything re-examined.</a:t>
            </a:r>
          </a:p>
        </p:txBody>
      </p:sp>
      <p:sp>
        <p:nvSpPr>
          <p:cNvPr id="17" name="Oval 16"/>
          <p:cNvSpPr/>
          <p:nvPr/>
        </p:nvSpPr>
        <p:spPr>
          <a:xfrm>
            <a:off x="8330183" y="2249424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C2128"/>
                </a:solidFill>
                <a:latin typeface="Segoe UI"/>
              </a:rP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651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Attack our own results: simpler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8986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wins; Thai notes translated</a:t>
            </a:r>
          </a:p>
        </p:txBody>
      </p:sp>
      <p:sp>
        <p:nvSpPr>
          <p:cNvPr id="21" name="Oval 20"/>
          <p:cNvSpPr/>
          <p:nvPr/>
        </p:nvSpPr>
        <p:spPr>
          <a:xfrm>
            <a:off x="10707624" y="224942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 i="0">
                <a:solidFill>
                  <a:srgbClr val="16A34A"/>
                </a:solidFill>
                <a:latin typeface="Segoe UI"/>
              </a:rP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2651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IEEE paper, dashboard,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28986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5B6470"/>
                </a:solidFill>
                <a:latin typeface="Segoe UI"/>
              </a:rPr>
              <a:t>this defense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4754880"/>
            <a:ext cx="7802575" cy="10515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4956048"/>
            <a:ext cx="72539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C2128"/>
                </a:solidFill>
                <a:latin typeface="Segoe UI"/>
              </a:rPr>
              <a:t>Research is not a straight line. Our two strongest findings came from </a:t>
            </a:r>
            <a:r>
              <a:rPr sz="1500" b="1" i="0">
                <a:solidFill>
                  <a:srgbClr val="1C2128"/>
                </a:solidFill>
                <a:latin typeface="Segoe UI"/>
              </a:rPr>
              <a:t>questioning our own results</a:t>
            </a:r>
            <a:r>
              <a:rPr sz="1500" b="0" i="0">
                <a:solidFill>
                  <a:srgbClr val="1C2128"/>
                </a:solidFill>
                <a:latin typeface="Segoe UI"/>
              </a:rPr>
              <a:t> — not from the original plan.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2 · CONTRIBUTION 1 — FAULT TYPES WITHOUT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The severity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0029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50" b="0" i="0">
                <a:solidFill>
                  <a:srgbClr val="5B6470"/>
                </a:solidFill>
                <a:latin typeface="Segoe UI"/>
              </a:rPr>
              <a:t>Feed raw gas concentrations to any model, and it learns </a:t>
            </a:r>
            <a:r>
              <a:rPr sz="1550" b="1" i="0">
                <a:solidFill>
                  <a:srgbClr val="5B6470"/>
                </a:solidFill>
                <a:latin typeface="Segoe UI"/>
              </a:rPr>
              <a:t>“how much gas”</a:t>
            </a:r>
            <a:r>
              <a:rPr sz="1550" b="0" i="0">
                <a:solidFill>
                  <a:srgbClr val="5B6470"/>
                </a:solidFill>
                <a:latin typeface="Segoe UI"/>
              </a:rPr>
              <a:t> — not </a:t>
            </a:r>
            <a:r>
              <a:rPr sz="1550" b="1" i="0">
                <a:solidFill>
                  <a:srgbClr val="5B6470"/>
                </a:solidFill>
                <a:latin typeface="Segoe UI"/>
              </a:rPr>
              <a:t>“which fault”</a:t>
            </a:r>
            <a:r>
              <a:rPr sz="1550" b="0" i="0">
                <a:solidFill>
                  <a:srgbClr val="5B6470"/>
                </a:solidFill>
                <a:latin typeface="Segoe UI"/>
              </a:rPr>
              <a:t>. The same fault at low and high gassing looks like two different things.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4937760" cy="26517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4414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C2128"/>
                </a:solidFill>
                <a:latin typeface="Segoe UI"/>
              </a:rPr>
              <a:t>Concentrations (ppm)</a:t>
            </a:r>
          </a:p>
        </p:txBody>
      </p:sp>
      <p:sp>
        <p:nvSpPr>
          <p:cNvPr id="7" name="Oval 6"/>
          <p:cNvSpPr/>
          <p:nvPr/>
        </p:nvSpPr>
        <p:spPr>
          <a:xfrm>
            <a:off x="1737360" y="420624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301752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8862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470"/>
                </a:solidFill>
                <a:latin typeface="Segoe UI"/>
              </a:rPr>
              <a:t>arcing, 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6974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B6470"/>
                </a:solidFill>
                <a:latin typeface="Segoe UI"/>
              </a:rPr>
              <a:t>arcing, severe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80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same fault — far apart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3657600.0"/>
            <a:ext cx="594360" cy="0.0"/>
          </a:xfrm>
          <a:prstGeom prst="line">
            <a:avLst/>
          </a:prstGeom>
          <a:ln w="25400">
            <a:solidFill>
              <a:srgbClr val="8A93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37960" y="2331720"/>
            <a:ext cx="4937760" cy="26517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414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C2128"/>
                </a:solidFill>
                <a:latin typeface="Segoe UI"/>
              </a:rPr>
              <a:t>Proportions (the gas “recipe”)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0" y="342900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06840" y="361188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480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Segoe UI"/>
              </a:rPr>
              <a:t>same fault — same place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49240"/>
            <a:ext cx="11002975" cy="86868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349240"/>
            <a:ext cx="40640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404104"/>
            <a:ext cx="107286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4F46E5"/>
                </a:solidFill>
                <a:latin typeface="Segoe UI"/>
              </a:rPr>
              <a:t>FOR THE EXPERTS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623560"/>
            <a:ext cx="10728655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B3F6E"/>
                </a:solidFill>
                <a:latin typeface="Segoe UI"/>
              </a:rPr>
              <a:t>A plain autoencoder on log-concentrations encodes magnitude: total gas is linearly readable from its 2-D latent (R² = 0.63), and agreement with Duval classes is near-noise (ARI 0.14–0.16).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2 · CONTRIBUTION 1 — FAULT TYPES WITHOUT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Use the right geometry, and fault types appear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resentation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41342"/>
            <a:ext cx="6400800" cy="32496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7150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8A93A2"/>
                </a:solidFill>
                <a:latin typeface="Segoe UI"/>
              </a:rPr>
              <a:t>Agreement with the expert (Duval) classes, from raw inputs to our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08760"/>
            <a:ext cx="4282135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627632"/>
            <a:ext cx="391637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4F46E5"/>
                </a:solidFill>
                <a:latin typeface="Segoe UI"/>
              </a:rPr>
              <a:t>0.16 → 0.55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176272"/>
            <a:ext cx="39163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agreement with expert diagnosis (ARI) — </a:t>
            </a:r>
            <a:r>
              <a:rPr sz="1200" b="1" i="0">
                <a:solidFill>
                  <a:srgbClr val="5B6470"/>
                </a:solidFill>
                <a:latin typeface="Segoe UI"/>
              </a:rPr>
              <a:t>3.4× better</a:t>
            </a:r>
            <a:r>
              <a:rPr sz="1200" b="0" i="0">
                <a:solidFill>
                  <a:srgbClr val="5B6470"/>
                </a:solidFill>
                <a:latin typeface="Segoe UI"/>
              </a:rPr>
              <a:t>, with zero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880360"/>
            <a:ext cx="4282135" cy="123444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3035808"/>
            <a:ext cx="391637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1C2128"/>
                </a:solidFill>
                <a:latin typeface="Segoe UI"/>
              </a:rPr>
              <a:t>The trick is not a bigger model.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It is treating gas proportions with the mathematics made for proportions (log-ratios), then the simplest possible projection.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343400"/>
            <a:ext cx="4282135" cy="160020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4343400"/>
            <a:ext cx="40640" cy="1600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398264"/>
            <a:ext cx="40078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4F46E5"/>
                </a:solidFill>
                <a:latin typeface="Segoe UI"/>
              </a:rPr>
              <a:t>FOR THE EXPERTS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617720"/>
            <a:ext cx="4007815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B3F6E"/>
                </a:solidFill>
                <a:latin typeface="Segoe UI"/>
              </a:rPr>
              <a:t>Centred log-ratio (Aitchison) on the 5 combustible gases → standardise → PCA-2 → KMeans (k=7). ARI 0.545 ± 0.002 vs Duval. Deterministic. Holds on a temporal split: fit pre-2022, score 2022+ → ARI 0.45.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2 · CONTRIBUTION 1 — FAULT TYPES WITHOUT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A data-driven diagnostic map — and an honest negative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585216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r_pc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61" y="1463040"/>
            <a:ext cx="5174757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852160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8A93A2"/>
                </a:solidFill>
                <a:latin typeface="Segoe UI"/>
              </a:rPr>
              <a:t>Every dot is an oil sample. Colours = expert diagnosis, added afterwards — the map itself never saw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76022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1664208"/>
            <a:ext cx="4547311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C2128"/>
                </a:solidFill>
                <a:latin typeface="Segoe UI"/>
              </a:rPr>
              <a:t>Discharge, partial-discharge and thermal regions </a:t>
            </a:r>
            <a:r>
              <a:rPr sz="1400" b="1" i="0">
                <a:solidFill>
                  <a:srgbClr val="1C2128"/>
                </a:solidFill>
                <a:latin typeface="Segoe UI"/>
              </a:rPr>
              <a:t>emerge on their 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44602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0024" y="2350008"/>
            <a:ext cx="4547311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C2128"/>
                </a:solidFill>
                <a:latin typeface="Segoe UI"/>
              </a:rPr>
              <a:t>Readable axes — an engineer can interpret the directions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313182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0024" y="3035808"/>
            <a:ext cx="4547311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C2128"/>
                </a:solidFill>
                <a:latin typeface="Segoe UI"/>
              </a:rPr>
              <a:t>Deterministic: same data in, same map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977639"/>
            <a:ext cx="4785055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4133087"/>
            <a:ext cx="43827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DC2626"/>
                </a:solidFill>
                <a:latin typeface="Segoe UI"/>
              </a:rPr>
              <a:t>NEGATIVE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4480560"/>
            <a:ext cx="438271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1C2128"/>
                </a:solidFill>
                <a:latin typeface="Segoe UI"/>
              </a:rPr>
              <a:t>We also built a deep autoencoder (SD-CAE) and an adversarial variant. </a:t>
            </a:r>
            <a:r>
              <a:rPr sz="1300" b="1" i="0">
                <a:solidFill>
                  <a:srgbClr val="1C2128"/>
                </a:solidFill>
                <a:latin typeface="Segoe UI"/>
              </a:rPr>
              <a:t>Neither beat the simple linear map. </a:t>
            </a:r>
            <a:r>
              <a:rPr sz="1300" b="0" i="0">
                <a:solidFill>
                  <a:srgbClr val="1C2128"/>
                </a:solidFill>
                <a:latin typeface="Segoe UI"/>
              </a:rPr>
              <a:t>We report both as negatives — knowing what does not work is a result too.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3 · CONTRIBUTION 2 — THE VALIDATION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“The more you look, the more you find”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5B6470"/>
                </a:solidFill>
                <a:latin typeface="Segoe UI"/>
              </a:rPr>
              <a:t>To check our risk score, we used the only “truth” available: operator-logged field events. Then we noticed something wrong.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7004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Operator worries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about a transformer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3063240.0"/>
            <a:ext cx="411480" cy="0.0"/>
          </a:xfrm>
          <a:prstGeom prst="line">
            <a:avLst/>
          </a:prstGeom>
          <a:ln w="25400">
            <a:solidFill>
              <a:srgbClr val="8A93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11880" y="246888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67004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Samples it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906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extra oil tests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3063240.0"/>
            <a:ext cx="411480" cy="0.0"/>
          </a:xfrm>
          <a:prstGeom prst="line">
            <a:avLst/>
          </a:prstGeom>
          <a:ln w="25400">
            <a:solidFill>
              <a:srgbClr val="8A93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46888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7004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Logs more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906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events get recorded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3063240.0"/>
            <a:ext cx="411480" cy="0.0"/>
          </a:xfrm>
          <a:prstGeom prst="line">
            <a:avLst/>
          </a:prstGeom>
          <a:ln w="25400">
            <a:solidFill>
              <a:srgbClr val="8A93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2468880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FDEAEA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67004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Segoe UI"/>
              </a:rPr>
              <a:t>“Risky” in the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09067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the loop feeds itself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965960.0" y="3657600"/>
            <a:ext cx="8366760.0" cy="822960"/>
          </a:xfrm>
          <a:prstGeom prst="bentConnector3">
            <a:avLst/>
          </a:prstGeom>
          <a:ln w="25400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00" y="4572000"/>
            <a:ext cx="7619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DC2626"/>
                </a:solidFill>
                <a:latin typeface="Segoe UI"/>
              </a:rPr>
              <a:t>the loop feeds itself — attention, not chemistry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2975" cy="914400"/>
          </a:xfrm>
          <a:prstGeom prst="roundRect">
            <a:avLst>
              <a:gd name="adj" fmla="val 8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349240"/>
            <a:ext cx="40640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5404104"/>
            <a:ext cx="107286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4F46E5"/>
                </a:solidFill>
                <a:latin typeface="Segoe UI"/>
              </a:rPr>
              <a:t>FOR THE EXPERTS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623560"/>
            <a:ext cx="10728655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B3F6E"/>
                </a:solidFill>
                <a:latin typeface="Segoe UI"/>
              </a:rPr>
              <a:t>This is surveillance / informed-presence bias, well known in medicine and health records (Sackett 1979; Haut &amp; Pronovost 2011; Goldstein 2016). To our knowledge, never reported for DGA — models in this field are routinely validated against such labels.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3 · CONTRIBUTION 2 — THE VALIDATION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Three tests, one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1002975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ound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67477"/>
            <a:ext cx="11002975" cy="28086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4709160"/>
            <a:ext cx="3515258" cy="160020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4864608"/>
            <a:ext cx="318607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C2128"/>
                </a:solidFill>
                <a:latin typeface="Segoe UI"/>
              </a:rPr>
              <a:t>(a) The tie. </a:t>
            </a:r>
            <a:r>
              <a:rPr sz="1250" b="0" i="0">
                <a:solidFill>
                  <a:srgbClr val="1C2128"/>
                </a:solidFill>
                <a:latin typeface="Segoe UI"/>
              </a:rPr>
              <a:t>Counting how often a unit was sampled predicts logged events as well as all our chemistry combined (0.76 vs 0.74 — statistically indistinguishable).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4709160"/>
            <a:ext cx="3515258" cy="160020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2810" y="4864608"/>
            <a:ext cx="318607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C2128"/>
                </a:solidFill>
                <a:latin typeface="Segoe UI"/>
              </a:rPr>
              <a:t>(b) No foresight. </a:t>
            </a:r>
            <a:r>
              <a:rPr sz="1250" b="0" i="0">
                <a:solidFill>
                  <a:srgbClr val="1C2128"/>
                </a:solidFill>
                <a:latin typeface="Segoe UI"/>
              </a:rPr>
              <a:t>Control for the sample count, and the score's ability to predict future events drops to a coin flip (0.50).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076" y="4709160"/>
            <a:ext cx="3515258" cy="160020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6668" y="4864608"/>
            <a:ext cx="318607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C2128"/>
                </a:solidFill>
                <a:latin typeface="Segoe UI"/>
              </a:rPr>
              <a:t>(c) The fix. </a:t>
            </a:r>
            <a:r>
              <a:rPr sz="1250" b="0" i="0">
                <a:solidFill>
                  <a:srgbClr val="1C2128"/>
                </a:solidFill>
                <a:latin typeface="Segoe UI"/>
              </a:rPr>
              <a:t>Define the target by chemistry (arcing onset) instead of attention — now gases predict (0.64) and the count does not (0.49).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3 · CONTRIBUTION 2 — THE VALIDATION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Repairing the label: 211 Thai notes, read one by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15258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318607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4F46E5"/>
                </a:solidFill>
                <a:latin typeface="Segoe UI"/>
              </a:rPr>
              <a:t>69%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30552"/>
            <a:ext cx="318607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of operator notes contain Thai — invisible to the English keyword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508760"/>
            <a:ext cx="3515258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2810" y="1600200"/>
            <a:ext cx="318607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4F46E5"/>
                </a:solidFill>
                <a:latin typeface="Segoe UI"/>
              </a:rPr>
              <a:t>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2810" y="2130552"/>
            <a:ext cx="318607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distinct Thai notes translated and classified (released for expert validation)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076" y="1508760"/>
            <a:ext cx="3515258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6668" y="1600200"/>
            <a:ext cx="318607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4F46E5"/>
                </a:solidFill>
                <a:latin typeface="Segoe UI"/>
              </a:rPr>
              <a:t>+6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6668" y="2130552"/>
            <a:ext cx="3186074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genuine electrical events recovered (noise, breaker explosions, insulation symptoms)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00400"/>
            <a:ext cx="5364327" cy="26517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49071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 i="0">
                <a:solidFill>
                  <a:srgbClr val="1C2128"/>
                </a:solidFill>
                <a:latin typeface="Segoe UI"/>
              </a:rPr>
              <a:t>Example finds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4907127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“หม้อแปลงมีเสียงดัง”</a:t>
            </a:r>
            <a:r>
              <a:rPr sz="1350" b="0" i="1">
                <a:solidFill>
                  <a:srgbClr val="5B6470"/>
                </a:solidFill>
                <a:latin typeface="Segoe UI"/>
              </a:rPr>
              <a:t> — transformer making abnormal noise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“ตามผลเนื่องจาก Bkr. ระเบิด”</a:t>
            </a:r>
            <a:r>
              <a:rPr sz="1350" b="0" i="1">
                <a:solidFill>
                  <a:srgbClr val="5B6470"/>
                </a:solidFill>
                <a:latin typeface="Segoe UI"/>
              </a:rPr>
              <a:t> — follow-up after breaker explosion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350" b="0" i="0">
                <a:solidFill>
                  <a:srgbClr val="1C2128"/>
                </a:solidFill>
                <a:latin typeface="Segoe UI"/>
              </a:rPr>
              <a:t>“ค่า p.f สูง”</a:t>
            </a:r>
            <a:r>
              <a:rPr sz="1350" b="0" i="1">
                <a:solidFill>
                  <a:srgbClr val="5B6470"/>
                </a:solidFill>
                <a:latin typeface="Segoe UI"/>
              </a:rPr>
              <a:t> — high insulation power factor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200400"/>
            <a:ext cx="5364327" cy="2651760"/>
          </a:xfrm>
          <a:prstGeom prst="roundRect">
            <a:avLst>
              <a:gd name="adj" fmla="val 10000"/>
            </a:avLst>
          </a:prstGeom>
          <a:solidFill>
            <a:srgbClr val="EEF0FD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3364992"/>
            <a:ext cx="48156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 i="0">
                <a:solidFill>
                  <a:srgbClr val="1C2128"/>
                </a:solidFill>
                <a:latin typeface="Segoe UI"/>
              </a:rPr>
              <a:t>The punchline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794760"/>
            <a:ext cx="4815687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C2128"/>
                </a:solidFill>
                <a:latin typeface="Segoe UI"/>
              </a:rPr>
              <a:t>On the repaired label, the sample-count's advantage </a:t>
            </a:r>
            <a:r>
              <a:rPr sz="1400" b="1" i="0">
                <a:solidFill>
                  <a:srgbClr val="1C2128"/>
                </a:solidFill>
                <a:latin typeface="Segoe UI"/>
              </a:rPr>
              <a:t>disappears entirely</a:t>
            </a:r>
            <a:r>
              <a:rPr sz="1400" b="0" i="0">
                <a:solidFill>
                  <a:srgbClr val="1C2128"/>
                </a:solidFill>
                <a:latin typeface="Segoe UI"/>
              </a:rPr>
              <a:t> (0.734 vs 0.735). Part of the “trap” was simply that the label was incomplete — in a language the pipeline didn't read.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4 · CONTRIBUTION 3 — FROM RESEARCH TO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A triage list for the maintenance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65836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alth_decile_not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9241"/>
            <a:ext cx="6583680" cy="36823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69280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8A93A2"/>
                </a:solidFill>
                <a:latin typeface="Segoe UI"/>
              </a:rPr>
              <a:t>Fleet sorted into 10 risk groups by our label-free index. Real logged events concentrate exactly where the index says they should.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4099256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1" y="1554480"/>
            <a:ext cx="3770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DC2626"/>
                </a:solidFill>
                <a:latin typeface="Segoe UI"/>
              </a:rPr>
              <a:t>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1" y="2084832"/>
            <a:ext cx="3770072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event rate in the riskiest 10% of the fleet…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697480"/>
            <a:ext cx="4099256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2788920"/>
            <a:ext cx="3770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6A34A"/>
                </a:solidFill>
                <a:latin typeface="Segoe UI"/>
              </a:rPr>
              <a:t>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3319272"/>
            <a:ext cx="3770072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…versus the safest 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977639"/>
            <a:ext cx="4099256" cy="192024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4133087"/>
            <a:ext cx="3733496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1C2128"/>
                </a:solidFill>
                <a:latin typeface="Segoe UI"/>
              </a:rPr>
              <a:t>Four transparent ingredients: </a:t>
            </a:r>
            <a:r>
              <a:rPr sz="1300" b="0" i="0">
                <a:solidFill>
                  <a:srgbClr val="1C2128"/>
                </a:solidFill>
                <a:latin typeface="Segoe UI"/>
              </a:rPr>
              <a:t>gas severity, acetylene (arcing), the speed of hydrogen rise, and statistical novelty. No black box — and always reported together with the surveillance-bias floor from the previous slides.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4 · CONTRIBUTION 3 — FROM RESEARCH TO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54480"/>
            <a:ext cx="110029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7200" b="1" i="0">
                <a:solidFill>
                  <a:srgbClr val="4F46E5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5176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C2128"/>
                </a:solidFill>
                <a:latin typeface="Segoe UI"/>
              </a:rPr>
              <a:t>The whole project,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5367" y="3383280"/>
            <a:ext cx="7680960" cy="19659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66847" y="3584448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450" b="1" i="0">
                <a:solidFill>
                  <a:srgbClr val="4F46E5"/>
                </a:solidFill>
                <a:latin typeface="Segoe UI"/>
              </a:rPr>
              <a:t>1.  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Fleet ranking — 628 units re-ranked live as we switch scoring profile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450" b="1" i="0">
                <a:solidFill>
                  <a:srgbClr val="4F46E5"/>
                </a:solidFill>
                <a:latin typeface="Segoe UI"/>
              </a:rPr>
              <a:t>2.  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Transformer inspector — gas history, expert diagnoses, “why this score”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450" b="1" i="0">
                <a:solidFill>
                  <a:srgbClr val="4F46E5"/>
                </a:solidFill>
                <a:latin typeface="Segoe UI"/>
              </a:rPr>
              <a:t>3.  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The fault-type map and the surveillance-bias evidence — the paper, interactive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77840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localhost:8501 — runs on the anonymised dataset · if the demo gods object, every view also exists as a paper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5 · 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What this project says to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3515258" cy="28803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1755648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87652"/>
            <a:ext cx="384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31720"/>
            <a:ext cx="311292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The right geometry beats a bigger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017520"/>
            <a:ext cx="311292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A linear method in the correct mathematical space outperformed deep networks — simpler, interpretable, deployable.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554480"/>
            <a:ext cx="3515258" cy="28803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39386" y="1755648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9386" y="1787652"/>
            <a:ext cx="384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331720"/>
            <a:ext cx="311292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Validation labels can lie.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386" y="3017520"/>
            <a:ext cx="311292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Any DGA risk model validated on operator-logged events should report the sample-count “confound floor” — otherwise surveillance can be mistaken for diagnostic skill.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2076" y="1554480"/>
            <a:ext cx="3515258" cy="288036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83244" y="1755648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3244" y="1787652"/>
            <a:ext cx="384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3244" y="2331720"/>
            <a:ext cx="311292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C2128"/>
                </a:solidFill>
                <a:latin typeface="Segoe UI"/>
              </a:rPr>
              <a:t>Honest negatives are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3244" y="3017520"/>
            <a:ext cx="311292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Segoe UI"/>
              </a:rPr>
              <a:t>Deep SVDD, VAE, adversarial disentanglement, RUL modelling: tested, rejected, documented. Future work starts further ahead.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846320"/>
            <a:ext cx="11002975" cy="1143000"/>
          </a:xfrm>
          <a:prstGeom prst="roundRect">
            <a:avLst>
              <a:gd name="adj" fmla="val 10000"/>
            </a:avLst>
          </a:prstGeom>
          <a:solidFill>
            <a:srgbClr val="FBFBFD"/>
          </a:solidFill>
          <a:ln w="12700">
            <a:solidFill>
              <a:srgbClr val="E7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29200"/>
            <a:ext cx="10454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1C2128"/>
                </a:solidFill>
                <a:latin typeface="Segoe UI"/>
              </a:rPr>
              <a:t>Deliverables:  </a:t>
            </a:r>
            <a:r>
              <a:rPr sz="1350" b="0" i="0">
                <a:solidFill>
                  <a:srgbClr val="1C2128"/>
                </a:solidFill>
                <a:latin typeface="Segoe UI"/>
              </a:rPr>
              <a:t>a 6-page IEEE paper draft (3 contributions) · a reproducible pipeline (one command regenerates every number, 10 automated tests) · an anonymised public dataset extract · the interactive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Segoe UI"/>
              </a:rPr>
              <a:t>5 · 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C2128"/>
                </a:solidFill>
                <a:latin typeface="Segoe UI"/>
              </a:rPr>
              <a:t>What five weeks of research taught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9738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801368"/>
            <a:ext cx="503514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C2128"/>
                </a:solidFill>
                <a:latin typeface="Segoe UI"/>
              </a:rPr>
              <a:t>The scientific method, for real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 — hypothesis, test, and the discipline to pivot when the evidence disagrees with the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26898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3172968"/>
            <a:ext cx="503514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C2128"/>
                </a:solidFill>
                <a:latin typeface="Segoe UI"/>
              </a:rPr>
              <a:t>Statistical honesty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 — confidence intervals, paired tests, blocked bootstraps; “0.76 vs 0.74” means nothing until you test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64058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4544568"/>
            <a:ext cx="503514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C2128"/>
                </a:solidFill>
                <a:latin typeface="Segoe UI"/>
              </a:rPr>
              <a:t>Attack your own results first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 — the finding that a simple method beat our own headline model came from auditing ourselves before reviewers would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189738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2191" y="1801368"/>
            <a:ext cx="503514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C2128"/>
                </a:solidFill>
                <a:latin typeface="Segoe UI"/>
              </a:rPr>
              <a:t>A full research stack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 — Python/PyTorch, statistics, LaTeX/IEEE writing, git, automated testing, Streamlit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326898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2191" y="3172968"/>
            <a:ext cx="503514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C2128"/>
                </a:solidFill>
                <a:latin typeface="Segoe UI"/>
              </a:rPr>
              <a:t>Working across languages and cultures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 — a French student, a Thai fleet, English science; 211 Thai field notes read and classified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4640580"/>
            <a:ext cx="10972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2191" y="4544568"/>
            <a:ext cx="503514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C2128"/>
                </a:solidFill>
                <a:latin typeface="Segoe UI"/>
              </a:rPr>
              <a:t>Scoping</a:t>
            </a:r>
            <a:r>
              <a:rPr sz="1450" b="0" i="0">
                <a:solidFill>
                  <a:srgbClr val="1C2128"/>
                </a:solidFill>
                <a:latin typeface="Segoe UI"/>
              </a:rPr>
              <a:t> — five weeks forces choices: what to cut, what to consolidate, what to hand to 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CESI × KMUTNB — Research Initiation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93A2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0891B2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737360"/>
            <a:ext cx="110029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FE3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100297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832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0" i="0">
                <a:solidFill>
                  <a:srgbClr val="DFE3FF"/>
                </a:solidFill>
                <a:latin typeface="Segoe UI"/>
              </a:rPr>
              <a:t>Thibaut Faucheux · CESI × KMUTNB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0" i="0">
                <a:solidFill>
                  <a:srgbClr val="DFE3FF"/>
                </a:solidFill>
                <a:latin typeface="Segoe UI"/>
              </a:rPr>
              <a:t>With thanks to Dr. Rattanakorn Phadungthin for the supervision and domain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46320"/>
            <a:ext cx="110029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FE3FF"/>
                </a:solidFill>
                <a:latin typeface="Segoe UI"/>
              </a:rPr>
              <a:t>628 transformers · 4,563 samples · ARI 0.16 → 0.55 without labels · one validation trap exposed · 6-page IEEE paper · live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