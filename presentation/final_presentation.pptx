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3730A3"/>
              </a:gs>
              <a:gs pos="100000">
                <a:srgbClr val="0891B2"/>
              </a:gs>
            </a:gsLst>
            <a:lin scaled="0" ang="19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1371600"/>
            <a:ext cx="1100297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 i="0">
                <a:solidFill>
                  <a:srgbClr val="DFE3FF"/>
                </a:solidFill>
                <a:latin typeface="Segoe UI"/>
              </a:rPr>
              <a:t>RESEARCH INITIATION PROJECT — FINAL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783080"/>
            <a:ext cx="10058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400" b="1" i="0">
                <a:solidFill>
                  <a:srgbClr val="FFFFFF"/>
                </a:solidFill>
                <a:latin typeface="Segoe UI"/>
              </a:rPr>
              <a:t>Finding Failing Transformers Without Labels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154680"/>
            <a:ext cx="9601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900" b="0" i="0">
                <a:solidFill>
                  <a:srgbClr val="DFE3FF"/>
                </a:solidFill>
                <a:latin typeface="Segoe UI"/>
              </a:rPr>
              <a:t>Label-free health monitoring from dissolved-gas analysis — and a hidden trap in how such models are validated.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480560"/>
            <a:ext cx="96012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Thibaut Faucheux</a:t>
            </a:r>
            <a:r>
              <a:rPr sz="1500" b="0" i="0">
                <a:solidFill>
                  <a:srgbClr val="DFE3FF"/>
                </a:solidFill>
                <a:latin typeface="Segoe UI"/>
              </a:rPr>
              <a:t> — CESI Engineering School, France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500" b="0" i="0">
                <a:solidFill>
                  <a:srgbClr val="FFFFFF"/>
                </a:solidFill>
                <a:latin typeface="Segoe UI"/>
              </a:rPr>
              <a:t>Supervised by Dr. Rattanakorn Phadungthin</a:t>
            </a:r>
            <a:r>
              <a:rPr sz="1500" b="0" i="0">
                <a:solidFill>
                  <a:srgbClr val="DFE3FF"/>
                </a:solidFill>
                <a:latin typeface="Segoe UI"/>
              </a:rPr>
              <a:t> — KMUTNB, Bangkok, Thailand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500" b="0" i="0">
                <a:solidFill>
                  <a:srgbClr val="DFE3FF"/>
                </a:solidFill>
                <a:latin typeface="Segoe UI"/>
              </a:rPr>
              <a:t>July 2026 · 5-week research project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100297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 i="0">
                <a:solidFill>
                  <a:srgbClr val="4F46E5"/>
                </a:solidFill>
                <a:latin typeface="Segoe UI"/>
              </a:rPr>
              <a:t>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1002975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>
                <a:solidFill>
                  <a:srgbClr val="1C2128"/>
                </a:solidFill>
                <a:latin typeface="Segoe UI"/>
              </a:rPr>
              <a:t>What the next 20 minutes look like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691640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 i="0">
                <a:solidFill>
                  <a:srgbClr val="4F46E5"/>
                </a:solidFill>
                <a:latin typeface="Segoe U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691640"/>
            <a:ext cx="9875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900" b="1" i="0">
                <a:solidFill>
                  <a:srgbClr val="1C2128"/>
                </a:solidFill>
                <a:latin typeface="Segoe UI"/>
              </a:rPr>
              <a:t>Context — transformers, gas analysis, and a fleet with no labels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94360" y="2258568"/>
            <a:ext cx="11002975" cy="0"/>
          </a:xfrm>
          <a:prstGeom prst="line">
            <a:avLst/>
          </a:prstGeom>
          <a:ln w="9525">
            <a:solidFill>
              <a:srgbClr val="E7E9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253288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 i="0">
                <a:solidFill>
                  <a:srgbClr val="4F46E5"/>
                </a:solidFill>
                <a:latin typeface="Segoe UI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532888"/>
            <a:ext cx="9875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900" b="1" i="0">
                <a:solidFill>
                  <a:srgbClr val="1C2128"/>
                </a:solidFill>
                <a:latin typeface="Segoe UI"/>
              </a:rPr>
              <a:t>Contribution 1 — a fault-type map learned without labels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4360" y="3099816"/>
            <a:ext cx="11002975" cy="0"/>
          </a:xfrm>
          <a:prstGeom prst="line">
            <a:avLst/>
          </a:prstGeom>
          <a:ln w="9525">
            <a:solidFill>
              <a:srgbClr val="E7E9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94360" y="3374136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 i="0">
                <a:solidFill>
                  <a:srgbClr val="4F46E5"/>
                </a:solidFill>
                <a:latin typeface="Segoe UI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3374136"/>
            <a:ext cx="9875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900" b="1" i="0">
                <a:solidFill>
                  <a:srgbClr val="1C2128"/>
                </a:solidFill>
                <a:latin typeface="Segoe UI"/>
              </a:rPr>
              <a:t>Contribution 2 — the validation trap: surveillance bias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94360" y="3941064"/>
            <a:ext cx="11002975" cy="0"/>
          </a:xfrm>
          <a:prstGeom prst="line">
            <a:avLst/>
          </a:prstGeom>
          <a:ln w="9525">
            <a:solidFill>
              <a:srgbClr val="E7E9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94360" y="4215384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 i="0">
                <a:solidFill>
                  <a:srgbClr val="4F46E5"/>
                </a:solidFill>
                <a:latin typeface="Segoe UI"/>
              </a:rP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4215384"/>
            <a:ext cx="9875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900" b="1" i="0">
                <a:solidFill>
                  <a:srgbClr val="1C2128"/>
                </a:solidFill>
                <a:latin typeface="Segoe UI"/>
              </a:rPr>
              <a:t>Contribution 3 — a fleet risk index + live dashboard demo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94360" y="4782312"/>
            <a:ext cx="11002975" cy="0"/>
          </a:xfrm>
          <a:prstGeom prst="line">
            <a:avLst/>
          </a:prstGeom>
          <a:ln w="9525">
            <a:solidFill>
              <a:srgbClr val="E7E9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94360" y="5056632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 i="0">
                <a:solidFill>
                  <a:srgbClr val="4F46E5"/>
                </a:solidFill>
                <a:latin typeface="Segoe UI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5056632"/>
            <a:ext cx="9875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900" b="1" i="0">
                <a:solidFill>
                  <a:srgbClr val="1C2128"/>
                </a:solidFill>
                <a:latin typeface="Segoe UI"/>
              </a:rPr>
              <a:t>Take-aways — for the field, and for me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94360" y="5623560"/>
            <a:ext cx="11002975" cy="0"/>
          </a:xfrm>
          <a:prstGeom prst="line">
            <a:avLst/>
          </a:prstGeom>
          <a:ln w="9525">
            <a:solidFill>
              <a:srgbClr val="E7E9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9436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0" i="0">
                <a:solidFill>
                  <a:srgbClr val="8A93A2"/>
                </a:solidFill>
                <a:latin typeface="Segoe UI"/>
              </a:rPr>
              <a:t>CESI × KMUTNB — Research Initiation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50" b="0" i="0">
                <a:solidFill>
                  <a:srgbClr val="8A93A2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100297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 i="0">
                <a:solidFill>
                  <a:srgbClr val="4F46E5"/>
                </a:solidFill>
                <a:latin typeface="Segoe UI"/>
              </a:rPr>
              <a:t>1 ·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1002975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>
                <a:solidFill>
                  <a:srgbClr val="1C2128"/>
                </a:solidFill>
                <a:latin typeface="Segoe UI"/>
              </a:rPr>
              <a:t>A blood test for transformers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100297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50" b="0" i="0">
                <a:solidFill>
                  <a:srgbClr val="5B6470"/>
                </a:solidFill>
                <a:latin typeface="Segoe UI"/>
              </a:rPr>
              <a:t>Power transformers are critical, million-euro assets. When something goes wrong inside — overheating, sparking, arcing — the insulating oil breaks down and releases dissolved gases. Measuring them is called DGA: Dissolved Gas Analysis.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468880"/>
            <a:ext cx="2377440" cy="1828800"/>
          </a:xfrm>
          <a:prstGeom prst="roundRect">
            <a:avLst>
              <a:gd name="adj" fmla="val 10000"/>
            </a:avLst>
          </a:prstGeom>
          <a:solidFill>
            <a:srgbClr val="EEF0FD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017520"/>
            <a:ext cx="23774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 i="0">
                <a:solidFill>
                  <a:srgbClr val="1C2128"/>
                </a:solidFill>
                <a:latin typeface="Segoe UI"/>
              </a:rPr>
              <a:t>Transformer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200" b="0" i="0">
                <a:solidFill>
                  <a:srgbClr val="5B6470"/>
                </a:solidFill>
                <a:latin typeface="Segoe UI"/>
              </a:rPr>
              <a:t>fault heats the oil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291840" y="3383280.0"/>
            <a:ext cx="594360" cy="0.0"/>
          </a:xfrm>
          <a:prstGeom prst="line">
            <a:avLst/>
          </a:prstGeom>
          <a:ln w="25400">
            <a:solidFill>
              <a:srgbClr val="8A93A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77639" y="2468880"/>
            <a:ext cx="2377440" cy="1828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7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63440" y="3794760"/>
            <a:ext cx="182880" cy="182880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120640" y="3429000"/>
            <a:ext cx="128016" cy="128016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577840" y="3063240"/>
            <a:ext cx="201168" cy="201168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937760" y="2880360"/>
            <a:ext cx="109728" cy="109728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486400" y="2697480"/>
            <a:ext cx="128016" cy="128016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77639" y="3840480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 i="0">
                <a:solidFill>
                  <a:srgbClr val="1C2128"/>
                </a:solidFill>
                <a:latin typeface="Segoe UI"/>
              </a:rPr>
              <a:t>Gases dissolve in oil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446520" y="3383280.0"/>
            <a:ext cx="594360" cy="0.0"/>
          </a:xfrm>
          <a:prstGeom prst="line">
            <a:avLst/>
          </a:prstGeom>
          <a:ln w="25400">
            <a:solidFill>
              <a:srgbClr val="8A93A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132320" y="2468880"/>
            <a:ext cx="2011680" cy="1828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7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52360" y="3291840"/>
            <a:ext cx="274320" cy="5029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863840" y="2926080"/>
            <a:ext cx="274320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75320" y="3474720"/>
            <a:ext cx="274320" cy="320040"/>
          </a:xfrm>
          <a:prstGeom prst="rect">
            <a:avLst/>
          </a:prstGeom>
          <a:solidFill>
            <a:srgbClr val="8A93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32320" y="384048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 i="0">
                <a:solidFill>
                  <a:srgbClr val="1C2128"/>
                </a:solidFill>
                <a:latin typeface="Segoe UI"/>
              </a:rPr>
              <a:t>Lab: 7 gases (ppm)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464040" y="2286000"/>
            <a:ext cx="2286000" cy="23774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7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46920" y="2395728"/>
            <a:ext cx="1965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1" i="0">
                <a:solidFill>
                  <a:srgbClr val="1C2128"/>
                </a:solidFill>
                <a:latin typeface="Segoe UI"/>
              </a:rPr>
              <a:t>Each gas is a clue: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46920" y="2743200"/>
            <a:ext cx="196596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1" i="0">
                <a:solidFill>
                  <a:srgbClr val="1C2128"/>
                </a:solidFill>
                <a:latin typeface="Segoe UI"/>
              </a:rPr>
              <a:t>H2</a:t>
            </a:r>
            <a:r>
              <a:rPr sz="1200" b="0" i="0">
                <a:solidFill>
                  <a:srgbClr val="1C2128"/>
                </a:solidFill>
                <a:latin typeface="Segoe UI"/>
              </a:rPr>
              <a:t> — sparking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1" i="0">
                <a:solidFill>
                  <a:srgbClr val="1C2128"/>
                </a:solidFill>
                <a:latin typeface="Segoe UI"/>
              </a:rPr>
              <a:t>C2H2</a:t>
            </a:r>
            <a:r>
              <a:rPr sz="1200" b="0" i="0">
                <a:solidFill>
                  <a:srgbClr val="1C2128"/>
                </a:solidFill>
                <a:latin typeface="Segoe UI"/>
              </a:rPr>
              <a:t> — arcing (worst)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1" i="0">
                <a:solidFill>
                  <a:srgbClr val="1C2128"/>
                </a:solidFill>
                <a:latin typeface="Segoe UI"/>
              </a:rPr>
              <a:t>C2H4/CH4</a:t>
            </a:r>
            <a:r>
              <a:rPr sz="1200" b="0" i="0">
                <a:solidFill>
                  <a:srgbClr val="1C2128"/>
                </a:solidFill>
                <a:latin typeface="Segoe UI"/>
              </a:rPr>
              <a:t> — overheating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1" i="0">
                <a:solidFill>
                  <a:srgbClr val="1C2128"/>
                </a:solidFill>
                <a:latin typeface="Segoe UI"/>
              </a:rPr>
              <a:t>CO/CO2</a:t>
            </a:r>
            <a:r>
              <a:rPr sz="1200" b="0" i="0">
                <a:solidFill>
                  <a:srgbClr val="1C2128"/>
                </a:solidFill>
                <a:latin typeface="Segoe UI"/>
              </a:rPr>
              <a:t> — paper ageing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0" i="0">
                <a:solidFill>
                  <a:srgbClr val="8A93A2"/>
                </a:solidFill>
                <a:latin typeface="Segoe UI"/>
              </a:rPr>
              <a:t>CESI × KMUTNB — Research Initiation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50" b="0" i="0">
                <a:solidFill>
                  <a:srgbClr val="8A93A2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100297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 i="0">
                <a:solidFill>
                  <a:srgbClr val="4F46E5"/>
                </a:solidFill>
                <a:latin typeface="Segoe UI"/>
              </a:rPr>
              <a:t>1 ·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1002975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>
                <a:solidFill>
                  <a:srgbClr val="1C2128"/>
                </a:solidFill>
                <a:latin typeface="Segoe UI"/>
              </a:rPr>
              <a:t>The problem: experts are scarce, labels don't exist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463040"/>
            <a:ext cx="4937760" cy="4206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7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uval_triang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492" y="1463040"/>
            <a:ext cx="4663496" cy="4206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5760720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8A93A2"/>
                </a:solidFill>
                <a:latin typeface="Segoe UI"/>
              </a:rPr>
              <a:t>The Duval Triangle — an expert rule from the 1970s, still the industry standard.</a:t>
            </a:r>
          </a:p>
        </p:txBody>
      </p:sp>
      <p:sp>
        <p:nvSpPr>
          <p:cNvPr id="7" name="Rectangle 6"/>
          <p:cNvSpPr/>
          <p:nvPr/>
        </p:nvSpPr>
        <p:spPr>
          <a:xfrm>
            <a:off x="6035040" y="1760220"/>
            <a:ext cx="109728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72784" y="1664208"/>
            <a:ext cx="5324551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1" i="0">
                <a:solidFill>
                  <a:srgbClr val="1C2128"/>
                </a:solidFill>
                <a:latin typeface="Segoe UI"/>
              </a:rPr>
              <a:t>Expert rules</a:t>
            </a:r>
            <a:r>
              <a:rPr sz="1500" b="0" i="0">
                <a:solidFill>
                  <a:srgbClr val="1C2128"/>
                </a:solidFill>
                <a:latin typeface="Segoe UI"/>
              </a:rPr>
              <a:t> (Duval, IEC ratios) work — but need an expert, and often answer “undetermined”.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0" y="2674620"/>
            <a:ext cx="109728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72784" y="2578608"/>
            <a:ext cx="5324551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1" i="0">
                <a:solidFill>
                  <a:srgbClr val="1C2128"/>
                </a:solidFill>
                <a:latin typeface="Segoe UI"/>
              </a:rPr>
              <a:t>Machine learning</a:t>
            </a:r>
            <a:r>
              <a:rPr sz="1500" b="0" i="0">
                <a:solidFill>
                  <a:srgbClr val="1C2128"/>
                </a:solidFill>
                <a:latin typeface="Segoe UI"/>
              </a:rPr>
              <a:t> reaches 99% accuracy in papers — but needs labelled faults, which utilities almost never have.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3589020"/>
            <a:ext cx="109728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2784" y="3493008"/>
            <a:ext cx="5324551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1" i="0">
                <a:solidFill>
                  <a:srgbClr val="1C2128"/>
                </a:solidFill>
                <a:latin typeface="Segoe UI"/>
              </a:rPr>
              <a:t>Our fleet: zero confirmed fault labels.</a:t>
            </a:r>
            <a:r>
              <a:rPr sz="1500" b="0" i="0">
                <a:solidFill>
                  <a:srgbClr val="1C2128"/>
                </a:solidFill>
                <a:latin typeface="Segoe UI"/>
              </a:rPr>
              <a:t> Just gas numbers and messy operator notes.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0" y="4709160"/>
            <a:ext cx="5562295" cy="1234440"/>
          </a:xfrm>
          <a:prstGeom prst="roundRect">
            <a:avLst>
              <a:gd name="adj" fmla="val 10000"/>
            </a:avLst>
          </a:prstGeom>
          <a:solidFill>
            <a:srgbClr val="EEF0FD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3640" y="4919472"/>
            <a:ext cx="5105095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600" b="1" i="0">
                <a:solidFill>
                  <a:srgbClr val="1C2128"/>
                </a:solidFill>
                <a:latin typeface="Segoe UI"/>
              </a:rPr>
              <a:t>Goal: </a:t>
            </a:r>
            <a:r>
              <a:rPr sz="1600" b="0" i="0">
                <a:solidFill>
                  <a:srgbClr val="1C2128"/>
                </a:solidFill>
                <a:latin typeface="Segoe UI"/>
              </a:rPr>
              <a:t>rank 628 transformers by risk and read fault types — </a:t>
            </a:r>
            <a:r>
              <a:rPr sz="1600" b="1" i="0">
                <a:solidFill>
                  <a:srgbClr val="1C2128"/>
                </a:solidFill>
                <a:latin typeface="Segoe UI"/>
              </a:rPr>
              <a:t>using no labels at all.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0" i="0">
                <a:solidFill>
                  <a:srgbClr val="8A93A2"/>
                </a:solidFill>
                <a:latin typeface="Segoe UI"/>
              </a:rPr>
              <a:t>CESI × KMUTNB — Research Initiation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50" b="0" i="0">
                <a:solidFill>
                  <a:srgbClr val="8A93A2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100297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 i="0">
                <a:solidFill>
                  <a:srgbClr val="4F46E5"/>
                </a:solidFill>
                <a:latin typeface="Segoe UI"/>
              </a:rPr>
              <a:t>1 ·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1002975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>
                <a:solidFill>
                  <a:srgbClr val="1C2128"/>
                </a:solidFill>
                <a:latin typeface="Segoe UI"/>
              </a:rPr>
              <a:t>Real fleet data — not a curated benchmark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508760"/>
            <a:ext cx="2579293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7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8952" y="1600200"/>
            <a:ext cx="2250109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>
                <a:solidFill>
                  <a:srgbClr val="1C2128"/>
                </a:solidFill>
                <a:latin typeface="Segoe UI"/>
              </a:rPr>
              <a:t>628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2130552"/>
            <a:ext cx="2250109" cy="4663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 i="0">
                <a:solidFill>
                  <a:srgbClr val="5B6470"/>
                </a:solidFill>
                <a:latin typeface="Segoe UI"/>
              </a:rPr>
              <a:t>transformers in service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02253" y="1508760"/>
            <a:ext cx="2579293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7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66845" y="1600200"/>
            <a:ext cx="2250109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>
                <a:solidFill>
                  <a:srgbClr val="1C2128"/>
                </a:solidFill>
                <a:latin typeface="Segoe UI"/>
              </a:rPr>
              <a:t>4,563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845" y="2130552"/>
            <a:ext cx="2250109" cy="4663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 i="0">
                <a:solidFill>
                  <a:srgbClr val="5B6470"/>
                </a:solidFill>
                <a:latin typeface="Segoe UI"/>
              </a:rPr>
              <a:t>oil samples analysed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0147" y="1508760"/>
            <a:ext cx="2579293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7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74739" y="1600200"/>
            <a:ext cx="2250109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>
                <a:solidFill>
                  <a:srgbClr val="1C2128"/>
                </a:solidFill>
                <a:latin typeface="Segoe UI"/>
              </a:rPr>
              <a:t>5 yrs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4739" y="2130552"/>
            <a:ext cx="2250109" cy="4663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 i="0">
                <a:solidFill>
                  <a:srgbClr val="5B6470"/>
                </a:solidFill>
                <a:latin typeface="Segoe UI"/>
              </a:rPr>
              <a:t>of history (2019–2024)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18041" y="1508760"/>
            <a:ext cx="2579293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7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82633" y="1600200"/>
            <a:ext cx="2250109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>
                <a:solidFill>
                  <a:srgbClr val="1C2128"/>
                </a:solidFill>
                <a:latin typeface="Segoe UI"/>
              </a:rPr>
              <a:t>42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82633" y="2130552"/>
            <a:ext cx="2250109" cy="4663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 i="0">
                <a:solidFill>
                  <a:srgbClr val="5B6470"/>
                </a:solidFill>
                <a:latin typeface="Segoe UI"/>
              </a:rPr>
              <a:t>manufacturers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2971800"/>
            <a:ext cx="5364327" cy="3017520"/>
          </a:xfrm>
          <a:prstGeom prst="roundRect">
            <a:avLst>
              <a:gd name="adj" fmla="val 10000"/>
            </a:avLst>
          </a:prstGeom>
          <a:solidFill>
            <a:srgbClr val="FBFBFD"/>
          </a:solidFill>
          <a:ln w="12700">
            <a:solidFill>
              <a:srgbClr val="E7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154680"/>
            <a:ext cx="490712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>
                <a:solidFill>
                  <a:srgbClr val="1C2128"/>
                </a:solidFill>
                <a:latin typeface="Segoe UI"/>
              </a:rPr>
              <a:t>What “real” means here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3680460"/>
            <a:ext cx="109728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" y="3584448"/>
            <a:ext cx="4669383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 i="0">
                <a:solidFill>
                  <a:srgbClr val="1C2128"/>
                </a:solidFill>
                <a:latin typeface="Segoe UI"/>
              </a:rPr>
              <a:t>Gas values stored as text, with dashes for missing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4247388"/>
            <a:ext cx="109728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0704" y="4151376"/>
            <a:ext cx="4669383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 i="0">
                <a:solidFill>
                  <a:srgbClr val="1C2128"/>
                </a:solidFill>
                <a:latin typeface="Segoe UI"/>
              </a:rPr>
              <a:t>Operator notes mix English and Thai — 69% contain Thai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4814316"/>
            <a:ext cx="109728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60704" y="4718304"/>
            <a:ext cx="4669383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 i="0">
                <a:solidFill>
                  <a:srgbClr val="1C2128"/>
                </a:solidFill>
                <a:latin typeface="Segoe UI"/>
              </a:rPr>
              <a:t>Notes log everything: faults, but mostly maintenance and admin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5381244"/>
            <a:ext cx="109728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60704" y="5285232"/>
            <a:ext cx="4669383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 i="0">
                <a:solidFill>
                  <a:srgbClr val="1C2128"/>
                </a:solidFill>
                <a:latin typeface="Segoe UI"/>
              </a:rPr>
              <a:t>No ground truth; assembled from multiple sources, anonymised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33007" y="2971800"/>
            <a:ext cx="5364327" cy="3017520"/>
          </a:xfrm>
          <a:prstGeom prst="roundRect">
            <a:avLst>
              <a:gd name="adj" fmla="val 10000"/>
            </a:avLst>
          </a:prstGeom>
          <a:solidFill>
            <a:srgbClr val="FBFBFD"/>
          </a:solidFill>
          <a:ln w="12700">
            <a:solidFill>
              <a:srgbClr val="E7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61607" y="3154680"/>
            <a:ext cx="481568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>
                <a:solidFill>
                  <a:srgbClr val="1C2128"/>
                </a:solidFill>
                <a:latin typeface="Segoe UI"/>
              </a:rPr>
              <a:t>Why that is interesting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61607" y="3611880"/>
            <a:ext cx="4815687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50" b="0" i="0">
                <a:solidFill>
                  <a:srgbClr val="5B6470"/>
                </a:solidFill>
                <a:latin typeface="Segoe UI"/>
              </a:rPr>
              <a:t>Most published methods are tested on small, clean, balanced datasets (often under 200 samples). Whether they survive contact with a real fleet is exactly the open question — and the messiness itself hides a scientific finding.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0" i="0">
                <a:solidFill>
                  <a:srgbClr val="8A93A2"/>
                </a:solidFill>
                <a:latin typeface="Segoe UI"/>
              </a:rPr>
              <a:t>CESI × KMUTNB — Research Initiation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50" b="0" i="0">
                <a:solidFill>
                  <a:srgbClr val="8A93A2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100297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 i="0">
                <a:solidFill>
                  <a:srgbClr val="4F46E5"/>
                </a:solidFill>
                <a:latin typeface="Segoe UI"/>
              </a:rPr>
              <a:t>1 ·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1002975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>
                <a:solidFill>
                  <a:srgbClr val="1C2128"/>
                </a:solidFill>
                <a:latin typeface="Segoe UI"/>
              </a:rPr>
              <a:t>Five weeks that did not go as planned — on purpose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914400" y="2377440"/>
            <a:ext cx="10362895" cy="0"/>
          </a:xfrm>
          <a:prstGeom prst="line">
            <a:avLst/>
          </a:prstGeom>
          <a:ln w="38100">
            <a:solidFill>
              <a:srgbClr val="E7E9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1197864" y="2249424"/>
            <a:ext cx="256032" cy="256032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79" y="1691640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50" b="1" i="0">
                <a:solidFill>
                  <a:srgbClr val="1C2128"/>
                </a:solidFill>
                <a:latin typeface="Segoe UI"/>
              </a:rPr>
              <a:t>Week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59" y="2651760"/>
            <a:ext cx="2377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50" b="0" i="0">
                <a:solidFill>
                  <a:srgbClr val="5B6470"/>
                </a:solidFill>
                <a:latin typeface="Segoe UI"/>
              </a:rPr>
              <a:t>Clean the data,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59" y="2898648"/>
            <a:ext cx="2377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50" b="0" i="0">
                <a:solidFill>
                  <a:srgbClr val="5B6470"/>
                </a:solidFill>
                <a:latin typeface="Segoe UI"/>
              </a:rPr>
              <a:t>rebuild expert rules</a:t>
            </a:r>
          </a:p>
        </p:txBody>
      </p:sp>
      <p:sp>
        <p:nvSpPr>
          <p:cNvPr id="9" name="Oval 8"/>
          <p:cNvSpPr/>
          <p:nvPr/>
        </p:nvSpPr>
        <p:spPr>
          <a:xfrm>
            <a:off x="3538727" y="2212848"/>
            <a:ext cx="329184" cy="329184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60320" y="1691640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50" b="1" i="0">
                <a:solidFill>
                  <a:srgbClr val="DC2626"/>
                </a:solidFill>
                <a:latin typeface="Segoe UI"/>
              </a:rPr>
              <a:t>Week 2 — discovery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14600" y="2651760"/>
            <a:ext cx="2377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50" b="0" i="0">
                <a:solidFill>
                  <a:srgbClr val="5B6470"/>
                </a:solidFill>
                <a:latin typeface="Segoe UI"/>
              </a:rPr>
              <a:t>Risk index built — then we find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4600" y="2898648"/>
            <a:ext cx="2377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50" b="0" i="0">
                <a:solidFill>
                  <a:srgbClr val="5B6470"/>
                </a:solidFill>
                <a:latin typeface="Segoe UI"/>
              </a:rPr>
              <a:t>our validation label is biased</a:t>
            </a:r>
          </a:p>
        </p:txBody>
      </p:sp>
      <p:sp>
        <p:nvSpPr>
          <p:cNvPr id="13" name="Oval 12"/>
          <p:cNvSpPr/>
          <p:nvPr/>
        </p:nvSpPr>
        <p:spPr>
          <a:xfrm>
            <a:off x="5952744" y="2249424"/>
            <a:ext cx="256032" cy="256032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37760" y="1691640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50" b="1" i="0">
                <a:solidFill>
                  <a:srgbClr val="1C2128"/>
                </a:solidFill>
                <a:latin typeface="Segoe UI"/>
              </a:rPr>
              <a:t>Week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92040" y="2651760"/>
            <a:ext cx="2377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50" b="0" i="0">
                <a:solidFill>
                  <a:srgbClr val="5B6470"/>
                </a:solidFill>
                <a:latin typeface="Segoe UI"/>
              </a:rPr>
              <a:t>Attack our own results: simpler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92040" y="2898648"/>
            <a:ext cx="2377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50" b="0" i="0">
                <a:solidFill>
                  <a:srgbClr val="5B6470"/>
                </a:solidFill>
                <a:latin typeface="Segoe UI"/>
              </a:rPr>
              <a:t>wins; Thai notes translated</a:t>
            </a:r>
          </a:p>
        </p:txBody>
      </p:sp>
      <p:sp>
        <p:nvSpPr>
          <p:cNvPr id="17" name="Oval 16"/>
          <p:cNvSpPr/>
          <p:nvPr/>
        </p:nvSpPr>
        <p:spPr>
          <a:xfrm>
            <a:off x="8330183" y="2249424"/>
            <a:ext cx="256032" cy="256032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0" y="1691640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50" b="1" i="0">
                <a:solidFill>
                  <a:srgbClr val="1C2128"/>
                </a:solidFill>
                <a:latin typeface="Segoe UI"/>
              </a:rPr>
              <a:t>Week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69480" y="2651760"/>
            <a:ext cx="2377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50" b="0" i="0">
                <a:solidFill>
                  <a:srgbClr val="5B6470"/>
                </a:solidFill>
                <a:latin typeface="Segoe UI"/>
              </a:rPr>
              <a:t>Consolidate: 6-page paper,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69480" y="2898648"/>
            <a:ext cx="2377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50" b="0" i="0">
                <a:solidFill>
                  <a:srgbClr val="5B6470"/>
                </a:solidFill>
                <a:latin typeface="Segoe UI"/>
              </a:rPr>
              <a:t>dashboard, defense decks</a:t>
            </a:r>
          </a:p>
        </p:txBody>
      </p:sp>
      <p:sp>
        <p:nvSpPr>
          <p:cNvPr id="21" name="Oval 20"/>
          <p:cNvSpPr/>
          <p:nvPr/>
        </p:nvSpPr>
        <p:spPr>
          <a:xfrm>
            <a:off x="10707624" y="2249424"/>
            <a:ext cx="256032" cy="256032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0" y="1691640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50" b="1" i="0">
                <a:solidFill>
                  <a:srgbClr val="16A34A"/>
                </a:solidFill>
                <a:latin typeface="Segoe UI"/>
              </a:rPr>
              <a:t>Week 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46919" y="2651760"/>
            <a:ext cx="2377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50" b="0" i="0">
                <a:solidFill>
                  <a:srgbClr val="5B6470"/>
                </a:solidFill>
                <a:latin typeface="Segoe UI"/>
              </a:rPr>
              <a:t>Final report, coherence audit,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46919" y="2898648"/>
            <a:ext cx="2377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50" b="0" i="0">
                <a:solidFill>
                  <a:srgbClr val="5B6470"/>
                </a:solidFill>
                <a:latin typeface="Segoe UI"/>
              </a:rPr>
              <a:t>this defense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194560" y="4754880"/>
            <a:ext cx="7802575" cy="1051560"/>
          </a:xfrm>
          <a:prstGeom prst="roundRect">
            <a:avLst>
              <a:gd name="adj" fmla="val 10000"/>
            </a:avLst>
          </a:prstGeom>
          <a:solidFill>
            <a:srgbClr val="FBFBFD"/>
          </a:solidFill>
          <a:ln w="12700">
            <a:solidFill>
              <a:srgbClr val="E7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468880" y="4956048"/>
            <a:ext cx="725393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C2128"/>
                </a:solidFill>
                <a:latin typeface="Segoe UI"/>
              </a:rPr>
              <a:t>Research is not a straight line. Our two strongest findings came from </a:t>
            </a:r>
            <a:r>
              <a:rPr sz="1500" b="1" i="0">
                <a:solidFill>
                  <a:srgbClr val="1C2128"/>
                </a:solidFill>
                <a:latin typeface="Segoe UI"/>
              </a:rPr>
              <a:t>questioning our own results</a:t>
            </a:r>
            <a:r>
              <a:rPr sz="1500" b="0" i="0">
                <a:solidFill>
                  <a:srgbClr val="1C2128"/>
                </a:solidFill>
                <a:latin typeface="Segoe UI"/>
              </a:rPr>
              <a:t> — not from the original plan.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0" i="0">
                <a:solidFill>
                  <a:srgbClr val="8A93A2"/>
                </a:solidFill>
                <a:latin typeface="Segoe UI"/>
              </a:rPr>
              <a:t>CESI × KMUTNB — Research Initiation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50" b="0" i="0">
                <a:solidFill>
                  <a:srgbClr val="8A93A2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100297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 i="0">
                <a:solidFill>
                  <a:srgbClr val="4F46E5"/>
                </a:solidFill>
                <a:latin typeface="Segoe UI"/>
              </a:rPr>
              <a:t>2 · CONTRIBUTION 1 — FAULT TYPES WITHOUT LABELS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1002975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>
                <a:solidFill>
                  <a:srgbClr val="1C2128"/>
                </a:solidFill>
                <a:latin typeface="Segoe UI"/>
              </a:rPr>
              <a:t>The severity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80160"/>
            <a:ext cx="1100297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50" b="0" i="0">
                <a:solidFill>
                  <a:srgbClr val="5B6470"/>
                </a:solidFill>
                <a:latin typeface="Segoe UI"/>
              </a:rPr>
              <a:t>Feed raw gas concentrations to any model, and it learns </a:t>
            </a:r>
            <a:r>
              <a:rPr sz="1550" b="1" i="0">
                <a:solidFill>
                  <a:srgbClr val="5B6470"/>
                </a:solidFill>
                <a:latin typeface="Segoe UI"/>
              </a:rPr>
              <a:t>“how much gas”</a:t>
            </a:r>
            <a:r>
              <a:rPr sz="1550" b="0" i="0">
                <a:solidFill>
                  <a:srgbClr val="5B6470"/>
                </a:solidFill>
                <a:latin typeface="Segoe UI"/>
              </a:rPr>
              <a:t> — not </a:t>
            </a:r>
            <a:r>
              <a:rPr sz="1550" b="1" i="0">
                <a:solidFill>
                  <a:srgbClr val="5B6470"/>
                </a:solidFill>
                <a:latin typeface="Segoe UI"/>
              </a:rPr>
              <a:t>“which fault”</a:t>
            </a:r>
            <a:r>
              <a:rPr sz="1550" b="0" i="0">
                <a:solidFill>
                  <a:srgbClr val="5B6470"/>
                </a:solidFill>
                <a:latin typeface="Segoe UI"/>
              </a:rPr>
              <a:t>. The same fault at low and high gassing looks like two different things.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2331720"/>
            <a:ext cx="4937760" cy="2651760"/>
          </a:xfrm>
          <a:prstGeom prst="roundRect">
            <a:avLst>
              <a:gd name="adj" fmla="val 10000"/>
            </a:avLst>
          </a:prstGeom>
          <a:solidFill>
            <a:srgbClr val="FBFBFD"/>
          </a:solidFill>
          <a:ln w="12700">
            <a:solidFill>
              <a:srgbClr val="E7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2441448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 i="0">
                <a:solidFill>
                  <a:srgbClr val="1C2128"/>
                </a:solidFill>
                <a:latin typeface="Segoe UI"/>
              </a:rPr>
              <a:t>Concentrations (ppm)</a:t>
            </a:r>
          </a:p>
        </p:txBody>
      </p:sp>
      <p:sp>
        <p:nvSpPr>
          <p:cNvPr id="7" name="Oval 6"/>
          <p:cNvSpPr/>
          <p:nvPr/>
        </p:nvSpPr>
        <p:spPr>
          <a:xfrm>
            <a:off x="1737360" y="4206240"/>
            <a:ext cx="292608" cy="292608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572000" y="3017520"/>
            <a:ext cx="292608" cy="292608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3886200"/>
            <a:ext cx="1463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5B6470"/>
                </a:solidFill>
                <a:latin typeface="Segoe UI"/>
              </a:rPr>
              <a:t>arcing, early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69080" y="2697480"/>
            <a:ext cx="1463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5B6470"/>
                </a:solidFill>
                <a:latin typeface="Segoe UI"/>
              </a:rPr>
              <a:t>arcing, severe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448056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 i="0">
                <a:solidFill>
                  <a:srgbClr val="DC2626"/>
                </a:solidFill>
                <a:latin typeface="Segoe UI"/>
              </a:rPr>
              <a:t>same fault — far apart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806440" y="3657600.0"/>
            <a:ext cx="594360" cy="0.0"/>
          </a:xfrm>
          <a:prstGeom prst="line">
            <a:avLst/>
          </a:prstGeom>
          <a:ln w="25400">
            <a:solidFill>
              <a:srgbClr val="8A93A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537960" y="2331720"/>
            <a:ext cx="4937760" cy="2651760"/>
          </a:xfrm>
          <a:prstGeom prst="roundRect">
            <a:avLst>
              <a:gd name="adj" fmla="val 10000"/>
            </a:avLst>
          </a:prstGeom>
          <a:solidFill>
            <a:srgbClr val="FBFBFD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2441448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 i="0">
                <a:solidFill>
                  <a:srgbClr val="1C2128"/>
                </a:solidFill>
                <a:latin typeface="Segoe UI"/>
              </a:rPr>
              <a:t>Proportions (the gas “recipe”)</a:t>
            </a:r>
          </a:p>
        </p:txBody>
      </p:sp>
      <p:sp>
        <p:nvSpPr>
          <p:cNvPr id="15" name="Oval 14"/>
          <p:cNvSpPr/>
          <p:nvPr/>
        </p:nvSpPr>
        <p:spPr>
          <a:xfrm>
            <a:off x="8778240" y="3429000"/>
            <a:ext cx="292608" cy="292608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006840" y="3611880"/>
            <a:ext cx="292608" cy="292608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960" y="448056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 i="0">
                <a:solidFill>
                  <a:srgbClr val="16A34A"/>
                </a:solidFill>
                <a:latin typeface="Segoe UI"/>
              </a:rPr>
              <a:t>same fault — same place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5349240"/>
            <a:ext cx="11002975" cy="868680"/>
          </a:xfrm>
          <a:prstGeom prst="roundRect">
            <a:avLst>
              <a:gd name="adj" fmla="val 8000"/>
            </a:avLst>
          </a:prstGeom>
          <a:solidFill>
            <a:srgbClr val="EEF0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94360" y="5349240"/>
            <a:ext cx="40640" cy="86868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8952" y="5404104"/>
            <a:ext cx="10728655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 i="0">
                <a:solidFill>
                  <a:srgbClr val="4F46E5"/>
                </a:solidFill>
                <a:latin typeface="Segoe UI"/>
              </a:rPr>
              <a:t>FOR THE EXPERTS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" y="5623560"/>
            <a:ext cx="10728655" cy="5394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 i="0">
                <a:solidFill>
                  <a:srgbClr val="3B3F6E"/>
                </a:solidFill>
                <a:latin typeface="Segoe UI"/>
              </a:rPr>
              <a:t>A plain autoencoder on log-concentrations encodes magnitude: total gas is linearly readable from its 2-D latent (R² = 0.63), and agreement with Duval classes is near-noise (ARI 0.14–0.16).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0" i="0">
                <a:solidFill>
                  <a:srgbClr val="8A93A2"/>
                </a:solidFill>
                <a:latin typeface="Segoe UI"/>
              </a:rPr>
              <a:t>CESI × KMUTNB — Research Initiation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50" b="0" i="0">
                <a:solidFill>
                  <a:srgbClr val="8A93A2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100297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 i="0">
                <a:solidFill>
                  <a:srgbClr val="4F46E5"/>
                </a:solidFill>
                <a:latin typeface="Segoe UI"/>
              </a:rPr>
              <a:t>2 · CONTRIBUTION 1 — FAULT TYPES WITHOUT LABELS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1002975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>
                <a:solidFill>
                  <a:srgbClr val="1C2128"/>
                </a:solidFill>
                <a:latin typeface="Segoe UI"/>
              </a:rPr>
              <a:t>Use the right geometry, and fault types appear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508760"/>
            <a:ext cx="6400800" cy="4114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7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epresentation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941342"/>
            <a:ext cx="6400800" cy="32496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5715000"/>
            <a:ext cx="6400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8A93A2"/>
                </a:solidFill>
                <a:latin typeface="Segoe UI"/>
              </a:rPr>
              <a:t>Agreement with the expert (Duval) classes, from raw inputs to our representation.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0" y="1508760"/>
            <a:ext cx="4282135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7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0" y="1627632"/>
            <a:ext cx="3916375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800" b="1" i="0">
                <a:solidFill>
                  <a:srgbClr val="4F46E5"/>
                </a:solidFill>
                <a:latin typeface="Segoe UI"/>
              </a:rPr>
              <a:t>0.16 → 0.55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0" y="2176272"/>
            <a:ext cx="39163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 i="0">
                <a:solidFill>
                  <a:srgbClr val="5B6470"/>
                </a:solidFill>
                <a:latin typeface="Segoe UI"/>
              </a:rPr>
              <a:t>agreement with expert diagnosis (ARI) — </a:t>
            </a:r>
            <a:r>
              <a:rPr sz="1200" b="1" i="0">
                <a:solidFill>
                  <a:srgbClr val="5B6470"/>
                </a:solidFill>
                <a:latin typeface="Segoe UI"/>
              </a:rPr>
              <a:t>3.4× better</a:t>
            </a:r>
            <a:r>
              <a:rPr sz="1200" b="0" i="0">
                <a:solidFill>
                  <a:srgbClr val="5B6470"/>
                </a:solidFill>
                <a:latin typeface="Segoe UI"/>
              </a:rPr>
              <a:t>, with zero labels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0" y="2880360"/>
            <a:ext cx="4282135" cy="1234440"/>
          </a:xfrm>
          <a:prstGeom prst="roundRect">
            <a:avLst>
              <a:gd name="adj" fmla="val 10000"/>
            </a:avLst>
          </a:prstGeom>
          <a:solidFill>
            <a:srgbClr val="FBFBFD"/>
          </a:solidFill>
          <a:ln w="12700">
            <a:solidFill>
              <a:srgbClr val="E7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0" y="3035808"/>
            <a:ext cx="3916375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50" b="1" i="0">
                <a:solidFill>
                  <a:srgbClr val="1C2128"/>
                </a:solidFill>
                <a:latin typeface="Segoe UI"/>
              </a:rPr>
              <a:t>The trick is not a bigger model. </a:t>
            </a:r>
            <a:r>
              <a:rPr sz="1350" b="0" i="0">
                <a:solidFill>
                  <a:srgbClr val="1C2128"/>
                </a:solidFill>
                <a:latin typeface="Segoe UI"/>
              </a:rPr>
              <a:t>It is treating gas proportions with the mathematics made for proportions (log-ratios), then the simplest possible projection.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0" y="4343400"/>
            <a:ext cx="4282135" cy="1600200"/>
          </a:xfrm>
          <a:prstGeom prst="roundRect">
            <a:avLst>
              <a:gd name="adj" fmla="val 8000"/>
            </a:avLst>
          </a:prstGeom>
          <a:solidFill>
            <a:srgbClr val="EEF0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0" y="4343400"/>
            <a:ext cx="40640" cy="16002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79792" y="4398264"/>
            <a:ext cx="4007815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 i="0">
                <a:solidFill>
                  <a:srgbClr val="4F46E5"/>
                </a:solidFill>
                <a:latin typeface="Segoe UI"/>
              </a:rPr>
              <a:t>FOR THE EXPERTS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79792" y="4617720"/>
            <a:ext cx="4007815" cy="12710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 i="0">
                <a:solidFill>
                  <a:srgbClr val="3B3F6E"/>
                </a:solidFill>
                <a:latin typeface="Segoe UI"/>
              </a:rPr>
              <a:t>Centred log-ratio (Aitchison) on the 5 combustible gases → standardise → PCA-2 → KMeans (k=7). ARI 0.545 ± 0.002 vs Duval. Deterministic. Holds on a temporal split: fit pre-2022, score 2022+ → ARI 0.45.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0" i="0">
                <a:solidFill>
                  <a:srgbClr val="8A93A2"/>
                </a:solidFill>
                <a:latin typeface="Segoe UI"/>
              </a:rPr>
              <a:t>CESI × KMUTNB — Research Initiation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50" b="0" i="0">
                <a:solidFill>
                  <a:srgbClr val="8A93A2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100297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 i="0">
                <a:solidFill>
                  <a:srgbClr val="4F46E5"/>
                </a:solidFill>
                <a:latin typeface="Segoe UI"/>
              </a:rPr>
              <a:t>2 · CONTRIBUTION 1 — FAULT TYPES WITHOUT LABELS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1002975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>
                <a:solidFill>
                  <a:srgbClr val="1C2128"/>
                </a:solidFill>
                <a:latin typeface="Segoe UI"/>
              </a:rPr>
              <a:t>A data-driven diagnostic map — and an honest negative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463040"/>
            <a:ext cx="5852160" cy="4297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7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lr_pca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061" y="1463040"/>
            <a:ext cx="5174757" cy="4297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5852160"/>
            <a:ext cx="5852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8A93A2"/>
                </a:solidFill>
                <a:latin typeface="Segoe UI"/>
              </a:rPr>
              <a:t>Every dot is an oil sample. Colours = expert diagnosis, added afterwards — the map itself never saw them.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12280" y="1760220"/>
            <a:ext cx="109728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1664208"/>
            <a:ext cx="4547311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1C2128"/>
                </a:solidFill>
                <a:latin typeface="Segoe UI"/>
              </a:rPr>
              <a:t>Discharge, partial-discharge and thermal regions </a:t>
            </a:r>
            <a:r>
              <a:rPr sz="1400" b="1" i="0">
                <a:solidFill>
                  <a:srgbClr val="1C2128"/>
                </a:solidFill>
                <a:latin typeface="Segoe UI"/>
              </a:rPr>
              <a:t>emerge on their own</a:t>
            </a:r>
          </a:p>
        </p:txBody>
      </p:sp>
      <p:sp>
        <p:nvSpPr>
          <p:cNvPr id="9" name="Rectangle 8"/>
          <p:cNvSpPr/>
          <p:nvPr/>
        </p:nvSpPr>
        <p:spPr>
          <a:xfrm>
            <a:off x="6812280" y="2446020"/>
            <a:ext cx="109728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50024" y="2350008"/>
            <a:ext cx="4547311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1C2128"/>
                </a:solidFill>
                <a:latin typeface="Segoe UI"/>
              </a:rPr>
              <a:t>Readable axes — an engineer can interpret the directions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12280" y="3131820"/>
            <a:ext cx="109728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50024" y="3035808"/>
            <a:ext cx="4547311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1C2128"/>
                </a:solidFill>
                <a:latin typeface="Segoe UI"/>
              </a:rPr>
              <a:t>Deterministic: same data in, same map out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12280" y="3977639"/>
            <a:ext cx="4785055" cy="1965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13448" y="4133087"/>
            <a:ext cx="438271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 i="0">
                <a:solidFill>
                  <a:srgbClr val="DC2626"/>
                </a:solidFill>
                <a:latin typeface="Segoe UI"/>
              </a:rPr>
              <a:t>NEGATIVE RESULT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13448" y="4480560"/>
            <a:ext cx="4382719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 i="0">
                <a:solidFill>
                  <a:srgbClr val="1C2128"/>
                </a:solidFill>
                <a:latin typeface="Segoe UI"/>
              </a:rPr>
              <a:t>We also built a deep autoencoder (SD-CAE) and an adversarial variant. </a:t>
            </a:r>
            <a:r>
              <a:rPr sz="1300" b="1" i="0">
                <a:solidFill>
                  <a:srgbClr val="1C2128"/>
                </a:solidFill>
                <a:latin typeface="Segoe UI"/>
              </a:rPr>
              <a:t>Neither beat the simple linear map. </a:t>
            </a:r>
            <a:r>
              <a:rPr sz="1300" b="0" i="0">
                <a:solidFill>
                  <a:srgbClr val="1C2128"/>
                </a:solidFill>
                <a:latin typeface="Segoe UI"/>
              </a:rPr>
              <a:t>We report both as negatives — knowing what does not work is a result too.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0" i="0">
                <a:solidFill>
                  <a:srgbClr val="8A93A2"/>
                </a:solidFill>
                <a:latin typeface="Segoe UI"/>
              </a:rPr>
              <a:t>CESI × KMUTNB — Research Initiation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50" b="0" i="0">
                <a:solidFill>
                  <a:srgbClr val="8A93A2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100297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 i="0">
                <a:solidFill>
                  <a:srgbClr val="4F46E5"/>
                </a:solidFill>
                <a:latin typeface="Segoe UI"/>
              </a:rPr>
              <a:t>3 · CONTRIBUTION 2 — THE VALIDATION TRAP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1002975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>
                <a:solidFill>
                  <a:srgbClr val="1C2128"/>
                </a:solidFill>
                <a:latin typeface="Segoe UI"/>
              </a:rPr>
              <a:t>“The more you look, the more you find”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80160"/>
            <a:ext cx="110029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00" b="0" i="0">
                <a:solidFill>
                  <a:srgbClr val="5B6470"/>
                </a:solidFill>
                <a:latin typeface="Segoe UI"/>
              </a:rPr>
              <a:t>To check our risk score, we used the only “truth” available: operator-logged field events. Then we noticed something wrong.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468880"/>
            <a:ext cx="2286000" cy="1188720"/>
          </a:xfrm>
          <a:prstGeom prst="roundRect">
            <a:avLst>
              <a:gd name="adj" fmla="val 10000"/>
            </a:avLst>
          </a:prstGeom>
          <a:solidFill>
            <a:srgbClr val="EEF0FD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670048"/>
            <a:ext cx="2286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 i="0">
                <a:solidFill>
                  <a:srgbClr val="1C2128"/>
                </a:solidFill>
                <a:latin typeface="Segoe UI"/>
              </a:rPr>
              <a:t>Operator worries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090672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200" b="0" i="0">
                <a:solidFill>
                  <a:srgbClr val="5B6470"/>
                </a:solidFill>
                <a:latin typeface="Segoe UI"/>
              </a:rPr>
              <a:t>about a transformer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154680" y="3063240.0"/>
            <a:ext cx="411480" cy="0.0"/>
          </a:xfrm>
          <a:prstGeom prst="line">
            <a:avLst/>
          </a:prstGeom>
          <a:ln w="25400">
            <a:solidFill>
              <a:srgbClr val="8A93A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611880" y="2468880"/>
            <a:ext cx="2286000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7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11880" y="2670048"/>
            <a:ext cx="2286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 i="0">
                <a:solidFill>
                  <a:srgbClr val="1C2128"/>
                </a:solidFill>
                <a:latin typeface="Segoe UI"/>
              </a:rPr>
              <a:t>Samples it more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3090672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200" b="0" i="0">
                <a:solidFill>
                  <a:srgbClr val="5B6470"/>
                </a:solidFill>
                <a:latin typeface="Segoe UI"/>
              </a:rPr>
              <a:t>extra oil tests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943600" y="3063240.0"/>
            <a:ext cx="411480" cy="0.0"/>
          </a:xfrm>
          <a:prstGeom prst="line">
            <a:avLst/>
          </a:prstGeom>
          <a:ln w="25400">
            <a:solidFill>
              <a:srgbClr val="8A93A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400800" y="2468880"/>
            <a:ext cx="2286000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7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2670048"/>
            <a:ext cx="2286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 i="0">
                <a:solidFill>
                  <a:srgbClr val="1C2128"/>
                </a:solidFill>
                <a:latin typeface="Segoe UI"/>
              </a:rPr>
              <a:t>Logs more notes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090672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200" b="0" i="0">
                <a:solidFill>
                  <a:srgbClr val="5B6470"/>
                </a:solidFill>
                <a:latin typeface="Segoe UI"/>
              </a:rPr>
              <a:t>events get recorded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732520" y="3063240.0"/>
            <a:ext cx="411480" cy="0.0"/>
          </a:xfrm>
          <a:prstGeom prst="line">
            <a:avLst/>
          </a:prstGeom>
          <a:ln w="25400">
            <a:solidFill>
              <a:srgbClr val="8A93A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9189720" y="2468880"/>
            <a:ext cx="2286000" cy="1188720"/>
          </a:xfrm>
          <a:prstGeom prst="roundRect">
            <a:avLst>
              <a:gd name="adj" fmla="val 10000"/>
            </a:avLst>
          </a:prstGeom>
          <a:solidFill>
            <a:srgbClr val="FDEAEA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89720" y="2670048"/>
            <a:ext cx="2286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 i="0">
                <a:solidFill>
                  <a:srgbClr val="DC2626"/>
                </a:solidFill>
                <a:latin typeface="Segoe UI"/>
              </a:rPr>
              <a:t>“Risky” in the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89720" y="3090672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200" b="0" i="0">
                <a:solidFill>
                  <a:srgbClr val="5B6470"/>
                </a:solidFill>
                <a:latin typeface="Segoe UI"/>
              </a:rPr>
              <a:t>the loop feeds itself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1965960.0" y="3657600"/>
            <a:ext cx="8366760.0" cy="822960"/>
          </a:xfrm>
          <a:prstGeom prst="bentConnector3">
            <a:avLst/>
          </a:prstGeom>
          <a:ln w="25400">
            <a:solidFill>
              <a:srgbClr val="DC262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2286000" y="4572000"/>
            <a:ext cx="76196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 i="0">
                <a:solidFill>
                  <a:srgbClr val="DC2626"/>
                </a:solidFill>
                <a:latin typeface="Segoe UI"/>
              </a:rPr>
              <a:t>the loop feeds itself — attention, not chemistry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" y="5349240"/>
            <a:ext cx="11002975" cy="914400"/>
          </a:xfrm>
          <a:prstGeom prst="roundRect">
            <a:avLst>
              <a:gd name="adj" fmla="val 8000"/>
            </a:avLst>
          </a:prstGeom>
          <a:solidFill>
            <a:srgbClr val="EEF0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94360" y="5349240"/>
            <a:ext cx="40640" cy="9144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8952" y="5404104"/>
            <a:ext cx="10728655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 i="0">
                <a:solidFill>
                  <a:srgbClr val="4F46E5"/>
                </a:solidFill>
                <a:latin typeface="Segoe UI"/>
              </a:rPr>
              <a:t>FOR THE EXPERTS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2" y="5623560"/>
            <a:ext cx="10728655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 i="0">
                <a:solidFill>
                  <a:srgbClr val="3B3F6E"/>
                </a:solidFill>
                <a:latin typeface="Segoe UI"/>
              </a:rPr>
              <a:t>This is surveillance / informed-presence bias, well known in medicine and health records (Sackett 1979; Haut &amp; Pronovost 2011; Goldstein 2016). To our knowledge, never reported for DGA — models in this field are routinely validated against such labels.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0" i="0">
                <a:solidFill>
                  <a:srgbClr val="8A93A2"/>
                </a:solidFill>
                <a:latin typeface="Segoe UI"/>
              </a:rPr>
              <a:t>CESI × KMUTNB — Research Initiation 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50" b="0" i="0">
                <a:solidFill>
                  <a:srgbClr val="8A93A2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100297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 i="0">
                <a:solidFill>
                  <a:srgbClr val="4F46E5"/>
                </a:solidFill>
                <a:latin typeface="Segoe UI"/>
              </a:rPr>
              <a:t>3 · CONTRIBUTION 2 — THE VALIDATION TRAP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1002975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>
                <a:solidFill>
                  <a:srgbClr val="1C2128"/>
                </a:solidFill>
                <a:latin typeface="Segoe UI"/>
              </a:rPr>
              <a:t>Three tests, one verdict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417320"/>
            <a:ext cx="11002975" cy="3108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7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onfound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567477"/>
            <a:ext cx="11002975" cy="28086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94360" y="4709160"/>
            <a:ext cx="3515258" cy="1600200"/>
          </a:xfrm>
          <a:prstGeom prst="roundRect">
            <a:avLst>
              <a:gd name="adj" fmla="val 10000"/>
            </a:avLst>
          </a:prstGeom>
          <a:solidFill>
            <a:srgbClr val="FBFBFD"/>
          </a:solidFill>
          <a:ln w="12700">
            <a:solidFill>
              <a:srgbClr val="E7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4864608"/>
            <a:ext cx="318607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1" i="0">
                <a:solidFill>
                  <a:srgbClr val="1C2128"/>
                </a:solidFill>
                <a:latin typeface="Segoe UI"/>
              </a:rPr>
              <a:t>(a) The tie. </a:t>
            </a:r>
            <a:r>
              <a:rPr sz="1250" b="0" i="0">
                <a:solidFill>
                  <a:srgbClr val="1C2128"/>
                </a:solidFill>
                <a:latin typeface="Segoe UI"/>
              </a:rPr>
              <a:t>Counting how often a unit was sampled predicts logged events as well as all our chemistry combined (0.76 vs 0.74 — statistically indistinguishable).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8218" y="4709160"/>
            <a:ext cx="3515258" cy="1600200"/>
          </a:xfrm>
          <a:prstGeom prst="roundRect">
            <a:avLst>
              <a:gd name="adj" fmla="val 10000"/>
            </a:avLst>
          </a:prstGeom>
          <a:solidFill>
            <a:srgbClr val="FBFBFD"/>
          </a:solidFill>
          <a:ln w="12700">
            <a:solidFill>
              <a:srgbClr val="E7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02810" y="4864608"/>
            <a:ext cx="318607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1" i="0">
                <a:solidFill>
                  <a:srgbClr val="1C2128"/>
                </a:solidFill>
                <a:latin typeface="Segoe UI"/>
              </a:rPr>
              <a:t>(b) No foresight. </a:t>
            </a:r>
            <a:r>
              <a:rPr sz="1250" b="0" i="0">
                <a:solidFill>
                  <a:srgbClr val="1C2128"/>
                </a:solidFill>
                <a:latin typeface="Segoe UI"/>
              </a:rPr>
              <a:t>Control for the sample count, and the score's ability to predict future events drops to a coin flip (0.50).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82076" y="4709160"/>
            <a:ext cx="3515258" cy="1600200"/>
          </a:xfrm>
          <a:prstGeom prst="roundRect">
            <a:avLst>
              <a:gd name="adj" fmla="val 10000"/>
            </a:avLst>
          </a:prstGeom>
          <a:solidFill>
            <a:srgbClr val="FBFBFD"/>
          </a:solidFill>
          <a:ln w="12700">
            <a:solidFill>
              <a:srgbClr val="E7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46668" y="4864608"/>
            <a:ext cx="318607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1" i="0">
                <a:solidFill>
                  <a:srgbClr val="1C2128"/>
                </a:solidFill>
                <a:latin typeface="Segoe UI"/>
              </a:rPr>
              <a:t>(c) The fix. </a:t>
            </a:r>
            <a:r>
              <a:rPr sz="1250" b="0" i="0">
                <a:solidFill>
                  <a:srgbClr val="1C2128"/>
                </a:solidFill>
                <a:latin typeface="Segoe UI"/>
              </a:rPr>
              <a:t>Define the target by chemistry (arcing onset) instead of attention — now gases predict (0.64) and the count does not (0.49).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0" i="0">
                <a:solidFill>
                  <a:srgbClr val="8A93A2"/>
                </a:solidFill>
                <a:latin typeface="Segoe UI"/>
              </a:rPr>
              <a:t>CESI × KMUTNB — Research Initiation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50" b="0" i="0">
                <a:solidFill>
                  <a:srgbClr val="8A93A2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100297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 i="0">
                <a:solidFill>
                  <a:srgbClr val="4F46E5"/>
                </a:solidFill>
                <a:latin typeface="Segoe UI"/>
              </a:rPr>
              <a:t>3 · CONTRIBUTION 2 — THE VALIDATION TRAP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1002975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>
                <a:solidFill>
                  <a:srgbClr val="1C2128"/>
                </a:solidFill>
                <a:latin typeface="Segoe UI"/>
              </a:rPr>
              <a:t>Repairing the label: 211 Thai notes, read one by one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508760"/>
            <a:ext cx="3515258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7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8952" y="1600200"/>
            <a:ext cx="3186074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>
                <a:solidFill>
                  <a:srgbClr val="4F46E5"/>
                </a:solidFill>
                <a:latin typeface="Segoe UI"/>
              </a:rPr>
              <a:t>69%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2130552"/>
            <a:ext cx="3186074" cy="6949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 i="0">
                <a:solidFill>
                  <a:srgbClr val="5B6470"/>
                </a:solidFill>
                <a:latin typeface="Segoe UI"/>
              </a:rPr>
              <a:t>of operator notes contain Thai — invisible to the English keyword filter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38218" y="1508760"/>
            <a:ext cx="3515258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7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02810" y="1600200"/>
            <a:ext cx="3186074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>
                <a:solidFill>
                  <a:srgbClr val="4F46E5"/>
                </a:solidFill>
                <a:latin typeface="Segoe UI"/>
              </a:rPr>
              <a:t>211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02810" y="2130552"/>
            <a:ext cx="3186074" cy="6949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 i="0">
                <a:solidFill>
                  <a:srgbClr val="5B6470"/>
                </a:solidFill>
                <a:latin typeface="Segoe UI"/>
              </a:rPr>
              <a:t>distinct Thai notes translated and classified (released for expert validation)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82076" y="1508760"/>
            <a:ext cx="3515258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7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46668" y="1600200"/>
            <a:ext cx="3186074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>
                <a:solidFill>
                  <a:srgbClr val="4F46E5"/>
                </a:solidFill>
                <a:latin typeface="Segoe UI"/>
              </a:rPr>
              <a:t>+6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46668" y="2130552"/>
            <a:ext cx="3186074" cy="6949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 i="0">
                <a:solidFill>
                  <a:srgbClr val="5B6470"/>
                </a:solidFill>
                <a:latin typeface="Segoe UI"/>
              </a:rPr>
              <a:t>genuine electrical events recovered (noise, breaker explosions, insulation symptoms)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200400"/>
            <a:ext cx="5364327" cy="2651760"/>
          </a:xfrm>
          <a:prstGeom prst="roundRect">
            <a:avLst>
              <a:gd name="adj" fmla="val 10000"/>
            </a:avLst>
          </a:prstGeom>
          <a:solidFill>
            <a:srgbClr val="FBFBFD"/>
          </a:solidFill>
          <a:ln w="12700">
            <a:solidFill>
              <a:srgbClr val="E7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364992"/>
            <a:ext cx="490712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50" b="1" i="0">
                <a:solidFill>
                  <a:srgbClr val="1C2128"/>
                </a:solidFill>
                <a:latin typeface="Segoe UI"/>
              </a:rPr>
              <a:t>Example finds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4907127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  <a:spcAft>
                <a:spcPts val="400"/>
              </a:spcAft>
            </a:pPr>
            <a:r>
              <a:rPr sz="1350" b="0" i="0">
                <a:solidFill>
                  <a:srgbClr val="1C2128"/>
                </a:solidFill>
                <a:latin typeface="Segoe UI"/>
              </a:rPr>
              <a:t>“หม้อแปลงมีเสียงดัง”</a:t>
            </a:r>
            <a:r>
              <a:rPr sz="1350" b="0" i="1">
                <a:solidFill>
                  <a:srgbClr val="5B6470"/>
                </a:solidFill>
                <a:latin typeface="Segoe UI"/>
              </a:rPr>
              <a:t> — transformer making abnormal noise</a:t>
            </a:r>
          </a:p>
          <a:p>
            <a:pPr algn="l">
              <a:lnSpc>
                <a:spcPct val="160000"/>
              </a:lnSpc>
              <a:spcAft>
                <a:spcPts val="400"/>
              </a:spcAft>
            </a:pPr>
            <a:r>
              <a:rPr sz="1350" b="0" i="0">
                <a:solidFill>
                  <a:srgbClr val="1C2128"/>
                </a:solidFill>
                <a:latin typeface="Segoe UI"/>
              </a:rPr>
              <a:t>“ตามผลเนื่องจาก Bkr. ระเบิด”</a:t>
            </a:r>
            <a:r>
              <a:rPr sz="1350" b="0" i="1">
                <a:solidFill>
                  <a:srgbClr val="5B6470"/>
                </a:solidFill>
                <a:latin typeface="Segoe UI"/>
              </a:rPr>
              <a:t> — follow-up after breaker explosion</a:t>
            </a:r>
          </a:p>
          <a:p>
            <a:pPr algn="l">
              <a:lnSpc>
                <a:spcPct val="160000"/>
              </a:lnSpc>
              <a:spcAft>
                <a:spcPts val="400"/>
              </a:spcAft>
            </a:pPr>
            <a:r>
              <a:rPr sz="1350" b="0" i="0">
                <a:solidFill>
                  <a:srgbClr val="1C2128"/>
                </a:solidFill>
                <a:latin typeface="Segoe UI"/>
              </a:rPr>
              <a:t>“ค่า p.f สูง”</a:t>
            </a:r>
            <a:r>
              <a:rPr sz="1350" b="0" i="1">
                <a:solidFill>
                  <a:srgbClr val="5B6470"/>
                </a:solidFill>
                <a:latin typeface="Segoe UI"/>
              </a:rPr>
              <a:t> — high insulation power factor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3200400"/>
            <a:ext cx="5364327" cy="2651760"/>
          </a:xfrm>
          <a:prstGeom prst="roundRect">
            <a:avLst>
              <a:gd name="adj" fmla="val 10000"/>
            </a:avLst>
          </a:prstGeom>
          <a:solidFill>
            <a:srgbClr val="EEF0FD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1607" y="3364992"/>
            <a:ext cx="481568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50" b="1" i="0">
                <a:solidFill>
                  <a:srgbClr val="1C2128"/>
                </a:solidFill>
                <a:latin typeface="Segoe UI"/>
              </a:rPr>
              <a:t>The punchline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1607" y="3794760"/>
            <a:ext cx="4815687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0" i="0">
                <a:solidFill>
                  <a:srgbClr val="1C2128"/>
                </a:solidFill>
                <a:latin typeface="Segoe UI"/>
              </a:rPr>
              <a:t>On the repaired label, the sample-count's advantage </a:t>
            </a:r>
            <a:r>
              <a:rPr sz="1400" b="1" i="0">
                <a:solidFill>
                  <a:srgbClr val="1C2128"/>
                </a:solidFill>
                <a:latin typeface="Segoe UI"/>
              </a:rPr>
              <a:t>disappears entirely</a:t>
            </a:r>
            <a:r>
              <a:rPr sz="1400" b="0" i="0">
                <a:solidFill>
                  <a:srgbClr val="1C2128"/>
                </a:solidFill>
                <a:latin typeface="Segoe UI"/>
              </a:rPr>
              <a:t> (0.734 vs 0.735). Part of the “trap” was simply that the label was incomplete — in a language the pipeline didn't read.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0" i="0">
                <a:solidFill>
                  <a:srgbClr val="8A93A2"/>
                </a:solidFill>
                <a:latin typeface="Segoe UI"/>
              </a:rPr>
              <a:t>CESI × KMUTNB — Research Initiation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50" b="0" i="0">
                <a:solidFill>
                  <a:srgbClr val="8A93A2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100297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 i="0">
                <a:solidFill>
                  <a:srgbClr val="4F46E5"/>
                </a:solidFill>
                <a:latin typeface="Segoe UI"/>
              </a:rPr>
              <a:t>4 · CONTRIBUTION 3 — FROM RESEARCH TO 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1002975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>
                <a:solidFill>
                  <a:srgbClr val="1C2128"/>
                </a:solidFill>
                <a:latin typeface="Segoe UI"/>
              </a:rPr>
              <a:t>A triage list for the maintenance team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463040"/>
            <a:ext cx="6583680" cy="4114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7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health_decile_note_r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679241"/>
            <a:ext cx="6583680" cy="36823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5669280"/>
            <a:ext cx="6583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8A93A2"/>
                </a:solidFill>
                <a:latin typeface="Segoe UI"/>
              </a:rPr>
              <a:t>Fleet sorted into 10 risk groups by our label-free index. Real logged events concentrate exactly where the index says they should.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79" y="1463040"/>
            <a:ext cx="4099256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7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62671" y="1554480"/>
            <a:ext cx="3770072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>
                <a:solidFill>
                  <a:srgbClr val="DC2626"/>
                </a:solidFill>
                <a:latin typeface="Segoe UI"/>
              </a:rPr>
              <a:t>27%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62671" y="2084832"/>
            <a:ext cx="3770072" cy="3749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 i="0">
                <a:solidFill>
                  <a:srgbClr val="5B6470"/>
                </a:solidFill>
                <a:latin typeface="Segoe UI"/>
              </a:rPr>
              <a:t>event rate in the riskiest 10% of the fleet…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79" y="2697480"/>
            <a:ext cx="4099256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7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62671" y="2788920"/>
            <a:ext cx="3770072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>
                <a:solidFill>
                  <a:srgbClr val="16A34A"/>
                </a:solidFill>
                <a:latin typeface="Segoe UI"/>
              </a:rPr>
              <a:t>2%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62671" y="3319272"/>
            <a:ext cx="3770072" cy="3749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 i="0">
                <a:solidFill>
                  <a:srgbClr val="5B6470"/>
                </a:solidFill>
                <a:latin typeface="Segoe UI"/>
              </a:rPr>
              <a:t>…versus the safest 10%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79" y="3977639"/>
            <a:ext cx="4099256" cy="1920240"/>
          </a:xfrm>
          <a:prstGeom prst="roundRect">
            <a:avLst>
              <a:gd name="adj" fmla="val 10000"/>
            </a:avLst>
          </a:prstGeom>
          <a:solidFill>
            <a:srgbClr val="FBFBFD"/>
          </a:solidFill>
          <a:ln w="12700">
            <a:solidFill>
              <a:srgbClr val="E7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59" y="4133087"/>
            <a:ext cx="3733496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1" i="0">
                <a:solidFill>
                  <a:srgbClr val="1C2128"/>
                </a:solidFill>
                <a:latin typeface="Segoe UI"/>
              </a:rPr>
              <a:t>Four transparent ingredients: </a:t>
            </a:r>
            <a:r>
              <a:rPr sz="1300" b="0" i="0">
                <a:solidFill>
                  <a:srgbClr val="1C2128"/>
                </a:solidFill>
                <a:latin typeface="Segoe UI"/>
              </a:rPr>
              <a:t>gas severity, acetylene (arcing), the speed of hydrogen rise, and statistical novelty. No black box — and always reported together with the surveillance-bias floor from the previous slides.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0" i="0">
                <a:solidFill>
                  <a:srgbClr val="8A93A2"/>
                </a:solidFill>
                <a:latin typeface="Segoe UI"/>
              </a:rPr>
              <a:t>CESI × KMUTNB — Research Initiation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50" b="0" i="0">
                <a:solidFill>
                  <a:srgbClr val="8A93A2"/>
                </a:solidFill>
                <a:latin typeface="Segoe U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100297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 i="0">
                <a:solidFill>
                  <a:srgbClr val="4F46E5"/>
                </a:solidFill>
                <a:latin typeface="Segoe UI"/>
              </a:rPr>
              <a:t>4 · CONTRIBUTION 3 — FROM RESEARCH TO 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554480"/>
            <a:ext cx="1100297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7200" b="1" i="0">
                <a:solidFill>
                  <a:srgbClr val="4F46E5"/>
                </a:solidFill>
                <a:latin typeface="Segoe UI"/>
              </a:rPr>
              <a:t>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651760"/>
            <a:ext cx="110029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600" b="1" i="0">
                <a:solidFill>
                  <a:srgbClr val="1C2128"/>
                </a:solidFill>
                <a:latin typeface="Segoe UI"/>
              </a:rPr>
              <a:t>The whole project, live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55367" y="3383280"/>
            <a:ext cx="7680960" cy="1965960"/>
          </a:xfrm>
          <a:prstGeom prst="roundRect">
            <a:avLst>
              <a:gd name="adj" fmla="val 10000"/>
            </a:avLst>
          </a:prstGeom>
          <a:solidFill>
            <a:srgbClr val="FBFBFD"/>
          </a:solidFill>
          <a:ln w="12700">
            <a:solidFill>
              <a:srgbClr val="E7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666847" y="3584448"/>
            <a:ext cx="68580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  <a:spcAft>
                <a:spcPts val="400"/>
              </a:spcAft>
            </a:pPr>
            <a:r>
              <a:rPr sz="1450" b="1" i="0">
                <a:solidFill>
                  <a:srgbClr val="4F46E5"/>
                </a:solidFill>
                <a:latin typeface="Segoe UI"/>
              </a:rPr>
              <a:t>1.  </a:t>
            </a:r>
            <a:r>
              <a:rPr sz="1450" b="0" i="0">
                <a:solidFill>
                  <a:srgbClr val="1C2128"/>
                </a:solidFill>
                <a:latin typeface="Segoe UI"/>
              </a:rPr>
              <a:t>Fleet ranking — 628 units re-ranked live as we switch scoring profile</a:t>
            </a:r>
          </a:p>
          <a:p>
            <a:pPr algn="l">
              <a:lnSpc>
                <a:spcPct val="160000"/>
              </a:lnSpc>
              <a:spcAft>
                <a:spcPts val="400"/>
              </a:spcAft>
            </a:pPr>
            <a:r>
              <a:rPr sz="1450" b="1" i="0">
                <a:solidFill>
                  <a:srgbClr val="4F46E5"/>
                </a:solidFill>
                <a:latin typeface="Segoe UI"/>
              </a:rPr>
              <a:t>2.  </a:t>
            </a:r>
            <a:r>
              <a:rPr sz="1450" b="0" i="0">
                <a:solidFill>
                  <a:srgbClr val="1C2128"/>
                </a:solidFill>
                <a:latin typeface="Segoe UI"/>
              </a:rPr>
              <a:t>Transformer inspector — gas history, expert diagnoses, “why this score”</a:t>
            </a:r>
          </a:p>
          <a:p>
            <a:pPr algn="l">
              <a:lnSpc>
                <a:spcPct val="160000"/>
              </a:lnSpc>
              <a:spcAft>
                <a:spcPts val="400"/>
              </a:spcAft>
            </a:pPr>
            <a:r>
              <a:rPr sz="1450" b="1" i="0">
                <a:solidFill>
                  <a:srgbClr val="4F46E5"/>
                </a:solidFill>
                <a:latin typeface="Segoe UI"/>
              </a:rPr>
              <a:t>3.  </a:t>
            </a:r>
            <a:r>
              <a:rPr sz="1450" b="0" i="0">
                <a:solidFill>
                  <a:srgbClr val="1C2128"/>
                </a:solidFill>
                <a:latin typeface="Segoe UI"/>
              </a:rPr>
              <a:t>The fault-type map and the surveillance-bias evidence — the paper, interactive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5577840"/>
            <a:ext cx="110029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200" b="0" i="0">
                <a:solidFill>
                  <a:srgbClr val="5B6470"/>
                </a:solidFill>
                <a:latin typeface="Segoe UI"/>
              </a:rPr>
              <a:t>localhost:8501 — runs on the anonymised dataset · if the demo gods object, every view also exists as a paper figure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0" i="0">
                <a:solidFill>
                  <a:srgbClr val="8A93A2"/>
                </a:solidFill>
                <a:latin typeface="Segoe UI"/>
              </a:rPr>
              <a:t>CESI × KMUTNB — Research Initiation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50" b="0" i="0">
                <a:solidFill>
                  <a:srgbClr val="8A93A2"/>
                </a:solidFill>
                <a:latin typeface="Segoe U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100297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 i="0">
                <a:solidFill>
                  <a:srgbClr val="4F46E5"/>
                </a:solidFill>
                <a:latin typeface="Segoe UI"/>
              </a:rPr>
              <a:t>5 · TAKE-AWAYS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1002975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>
                <a:solidFill>
                  <a:srgbClr val="1C2128"/>
                </a:solidFill>
                <a:latin typeface="Segoe UI"/>
              </a:rPr>
              <a:t>What this project says to the field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554480"/>
            <a:ext cx="3515258" cy="2880360"/>
          </a:xfrm>
          <a:prstGeom prst="roundRect">
            <a:avLst>
              <a:gd name="adj" fmla="val 10000"/>
            </a:avLst>
          </a:prstGeom>
          <a:solidFill>
            <a:srgbClr val="FBFBFD"/>
          </a:solidFill>
          <a:ln w="12700">
            <a:solidFill>
              <a:srgbClr val="E7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95528" y="1755648"/>
            <a:ext cx="384048" cy="384048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1787652"/>
            <a:ext cx="38404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8" y="2331720"/>
            <a:ext cx="3112922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>
                <a:solidFill>
                  <a:srgbClr val="1C2128"/>
                </a:solidFill>
                <a:latin typeface="Segoe UI"/>
              </a:rPr>
              <a:t>The right geometry beats a bigger model.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3017520"/>
            <a:ext cx="3112922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00" b="0" i="0">
                <a:solidFill>
                  <a:srgbClr val="5B6470"/>
                </a:solidFill>
                <a:latin typeface="Segoe UI"/>
              </a:rPr>
              <a:t>A linear method in the correct mathematical space outperformed deep networks — simpler, interpretable, deployable.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8218" y="1554480"/>
            <a:ext cx="3515258" cy="2880360"/>
          </a:xfrm>
          <a:prstGeom prst="roundRect">
            <a:avLst>
              <a:gd name="adj" fmla="val 10000"/>
            </a:avLst>
          </a:prstGeom>
          <a:solidFill>
            <a:srgbClr val="FBFBFD"/>
          </a:solidFill>
          <a:ln w="12700">
            <a:solidFill>
              <a:srgbClr val="E7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539386" y="1755648"/>
            <a:ext cx="384048" cy="384048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39386" y="1787652"/>
            <a:ext cx="38404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39386" y="2331720"/>
            <a:ext cx="3112922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>
                <a:solidFill>
                  <a:srgbClr val="1C2128"/>
                </a:solidFill>
                <a:latin typeface="Segoe UI"/>
              </a:rPr>
              <a:t>Validation labels can lie.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9386" y="3017520"/>
            <a:ext cx="3112922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00" b="0" i="0">
                <a:solidFill>
                  <a:srgbClr val="5B6470"/>
                </a:solidFill>
                <a:latin typeface="Segoe UI"/>
              </a:rPr>
              <a:t>Any DGA risk model validated on operator-logged events should report the sample-count “confound floor” — otherwise surveillance can be mistaken for diagnostic skill.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82076" y="1554480"/>
            <a:ext cx="3515258" cy="2880360"/>
          </a:xfrm>
          <a:prstGeom prst="roundRect">
            <a:avLst>
              <a:gd name="adj" fmla="val 10000"/>
            </a:avLst>
          </a:prstGeom>
          <a:solidFill>
            <a:srgbClr val="FBFBFD"/>
          </a:solidFill>
          <a:ln w="12700">
            <a:solidFill>
              <a:srgbClr val="E7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283244" y="1755648"/>
            <a:ext cx="384048" cy="384048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83244" y="1787652"/>
            <a:ext cx="38404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3244" y="2331720"/>
            <a:ext cx="3112922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>
                <a:solidFill>
                  <a:srgbClr val="1C2128"/>
                </a:solidFill>
                <a:latin typeface="Segoe UI"/>
              </a:rPr>
              <a:t>Honest negatives are results.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83244" y="3017520"/>
            <a:ext cx="3112922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00" b="0" i="0">
                <a:solidFill>
                  <a:srgbClr val="5B6470"/>
                </a:solidFill>
                <a:latin typeface="Segoe UI"/>
              </a:rPr>
              <a:t>Deep SVDD, VAE, adversarial disentanglement, RUL modelling: tested, rejected, documented. Future work starts further ahead.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4846320"/>
            <a:ext cx="11002975" cy="1143000"/>
          </a:xfrm>
          <a:prstGeom prst="roundRect">
            <a:avLst>
              <a:gd name="adj" fmla="val 10000"/>
            </a:avLst>
          </a:prstGeom>
          <a:solidFill>
            <a:srgbClr val="FBFBFD"/>
          </a:solidFill>
          <a:ln w="12700">
            <a:solidFill>
              <a:srgbClr val="E7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029200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50" b="1" i="0">
                <a:solidFill>
                  <a:srgbClr val="1C2128"/>
                </a:solidFill>
                <a:latin typeface="Segoe UI"/>
              </a:rPr>
              <a:t>Deliverables:  </a:t>
            </a:r>
            <a:r>
              <a:rPr sz="1350" b="0" i="0">
                <a:solidFill>
                  <a:srgbClr val="1C2128"/>
                </a:solidFill>
                <a:latin typeface="Segoe UI"/>
              </a:rPr>
              <a:t>a 6-page IEEE paper draft (3 contributions) · a reproducible pipeline (one command regenerates every number, 10 automated tests) · an anonymised public dataset extract · the interactive dashboard.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0" i="0">
                <a:solidFill>
                  <a:srgbClr val="8A93A2"/>
                </a:solidFill>
                <a:latin typeface="Segoe UI"/>
              </a:rPr>
              <a:t>CESI × KMUTNB — Research Initiation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50" b="0" i="0">
                <a:solidFill>
                  <a:srgbClr val="8A93A2"/>
                </a:solidFill>
                <a:latin typeface="Segoe U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100297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 i="0">
                <a:solidFill>
                  <a:srgbClr val="4F46E5"/>
                </a:solidFill>
                <a:latin typeface="Segoe UI"/>
              </a:rPr>
              <a:t>5 · TAKE-AWAYS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1002975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>
                <a:solidFill>
                  <a:srgbClr val="1C2128"/>
                </a:solidFill>
                <a:latin typeface="Segoe UI"/>
              </a:rPr>
              <a:t>What five weeks of research taught me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897380"/>
            <a:ext cx="109728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2104" y="1801368"/>
            <a:ext cx="5035143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50" b="1" i="0">
                <a:solidFill>
                  <a:srgbClr val="1C2128"/>
                </a:solidFill>
                <a:latin typeface="Segoe UI"/>
              </a:rPr>
              <a:t>The scientific method, for real</a:t>
            </a:r>
            <a:r>
              <a:rPr sz="1450" b="0" i="0">
                <a:solidFill>
                  <a:srgbClr val="1C2128"/>
                </a:solidFill>
                <a:latin typeface="Segoe UI"/>
              </a:rPr>
              <a:t> — hypothesis, test, and the discipline to pivot when the evidence disagrees with the plan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3268980"/>
            <a:ext cx="109728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2104" y="3172968"/>
            <a:ext cx="5035143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50" b="1" i="0">
                <a:solidFill>
                  <a:srgbClr val="1C2128"/>
                </a:solidFill>
                <a:latin typeface="Segoe UI"/>
              </a:rPr>
              <a:t>Statistical honesty</a:t>
            </a:r>
            <a:r>
              <a:rPr sz="1450" b="0" i="0">
                <a:solidFill>
                  <a:srgbClr val="1C2128"/>
                </a:solidFill>
                <a:latin typeface="Segoe UI"/>
              </a:rPr>
              <a:t> — confidence intervals, paired tests, blocked bootstraps; “0.76 vs 0.74” means nothing until you test it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4640580"/>
            <a:ext cx="109728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2104" y="4544568"/>
            <a:ext cx="5035143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50" b="1" i="0">
                <a:solidFill>
                  <a:srgbClr val="1C2128"/>
                </a:solidFill>
                <a:latin typeface="Segoe UI"/>
              </a:rPr>
              <a:t>Attack your own results first</a:t>
            </a:r>
            <a:r>
              <a:rPr sz="1450" b="0" i="0">
                <a:solidFill>
                  <a:srgbClr val="1C2128"/>
                </a:solidFill>
                <a:latin typeface="Segoe UI"/>
              </a:rPr>
              <a:t> — the finding that a simple method beat our own headline model came from auditing ourselves before reviewers would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24447" y="1897380"/>
            <a:ext cx="109728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62191" y="1801368"/>
            <a:ext cx="5035143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50" b="1" i="0">
                <a:solidFill>
                  <a:srgbClr val="1C2128"/>
                </a:solidFill>
                <a:latin typeface="Segoe UI"/>
              </a:rPr>
              <a:t>A full research stack</a:t>
            </a:r>
            <a:r>
              <a:rPr sz="1450" b="0" i="0">
                <a:solidFill>
                  <a:srgbClr val="1C2128"/>
                </a:solidFill>
                <a:latin typeface="Segoe UI"/>
              </a:rPr>
              <a:t> — Python/PyTorch, statistics, LaTeX/IEEE writing, git, automated testing, Streamlit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24447" y="3268980"/>
            <a:ext cx="109728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62191" y="3172968"/>
            <a:ext cx="5035143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50" b="1" i="0">
                <a:solidFill>
                  <a:srgbClr val="1C2128"/>
                </a:solidFill>
                <a:latin typeface="Segoe UI"/>
              </a:rPr>
              <a:t>Working across languages and cultures</a:t>
            </a:r>
            <a:r>
              <a:rPr sz="1450" b="0" i="0">
                <a:solidFill>
                  <a:srgbClr val="1C2128"/>
                </a:solidFill>
                <a:latin typeface="Segoe UI"/>
              </a:rPr>
              <a:t> — a French student, a Thai fleet, English science; 211 Thai field notes read and classified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24447" y="4640580"/>
            <a:ext cx="109728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62191" y="4544568"/>
            <a:ext cx="5035143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50" b="1" i="0">
                <a:solidFill>
                  <a:srgbClr val="1C2128"/>
                </a:solidFill>
                <a:latin typeface="Segoe UI"/>
              </a:rPr>
              <a:t>Scoping</a:t>
            </a:r>
            <a:r>
              <a:rPr sz="1450" b="0" i="0">
                <a:solidFill>
                  <a:srgbClr val="1C2128"/>
                </a:solidFill>
                <a:latin typeface="Segoe UI"/>
              </a:rPr>
              <a:t> — five weeks forces choices: what to cut, what to consolidate, what to hand to future work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0" i="0">
                <a:solidFill>
                  <a:srgbClr val="8A93A2"/>
                </a:solidFill>
                <a:latin typeface="Segoe UI"/>
              </a:rPr>
              <a:t>CESI × KMUTNB — Research Initiation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50" b="0" i="0">
                <a:solidFill>
                  <a:srgbClr val="8A93A2"/>
                </a:solidFill>
                <a:latin typeface="Segoe U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3730A3"/>
              </a:gs>
              <a:gs pos="100000">
                <a:srgbClr val="0891B2"/>
              </a:gs>
            </a:gsLst>
            <a:lin scaled="0" ang="19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1737360"/>
            <a:ext cx="1100297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 i="0">
                <a:solidFill>
                  <a:srgbClr val="DFE3FF"/>
                </a:solidFill>
                <a:latin typeface="Segoe UI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148840"/>
            <a:ext cx="1100297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4800" b="1" i="0">
                <a:solidFill>
                  <a:srgbClr val="FFFFFF"/>
                </a:solidFill>
                <a:latin typeface="Segoe UI"/>
              </a:rPr>
              <a:t>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383280"/>
            <a:ext cx="96012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600" b="0" i="0">
                <a:solidFill>
                  <a:srgbClr val="DFE3FF"/>
                </a:solidFill>
                <a:latin typeface="Segoe UI"/>
              </a:rPr>
              <a:t>Thibaut Faucheux · CESI × KMUTNB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600" b="0" i="0">
                <a:solidFill>
                  <a:srgbClr val="DFE3FF"/>
                </a:solidFill>
                <a:latin typeface="Segoe UI"/>
              </a:rPr>
              <a:t>With thanks to Dr. Rattanakorn Phadungthin for the supervision and domain guidance.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846320"/>
            <a:ext cx="1100297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0">
                <a:solidFill>
                  <a:srgbClr val="DFE3FF"/>
                </a:solidFill>
                <a:latin typeface="Segoe UI"/>
              </a:rPr>
              <a:t>628 transformers · 4,563 samples · ARI 0.16 → 0.55 without labels · one validation trap exposed · 6-page IEEE paper · live dashboard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